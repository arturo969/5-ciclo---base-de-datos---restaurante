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4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  <p:sldId id="272" r:id="rId17"/>
    <p:sldId id="273" r:id="rId18"/>
    <p:sldId id="274" r:id="rId19"/>
    <p:sldId id="259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BB07B9-10A9-4DB4-B030-8EF80A3F70C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7ECB06-AE53-4603-9E85-9B380D554CB4}">
      <dgm:prSet/>
      <dgm:spPr/>
      <dgm:t>
        <a:bodyPr/>
        <a:lstStyle/>
        <a:p>
          <a:r>
            <a:rPr lang="es-PE" b="1" dirty="0"/>
            <a:t>Mapeo de las dimensiones del negocio en las tablas dimensión:</a:t>
          </a:r>
          <a:endParaRPr lang="en-US" dirty="0"/>
        </a:p>
      </dgm:t>
    </dgm:pt>
    <dgm:pt modelId="{DDFD8F92-19D4-4C4D-AD19-5AE0AB3CB026}" type="parTrans" cxnId="{E3CD02CF-708E-4D5D-94C6-A640A2D82EBD}">
      <dgm:prSet/>
      <dgm:spPr/>
      <dgm:t>
        <a:bodyPr/>
        <a:lstStyle/>
        <a:p>
          <a:endParaRPr lang="en-US"/>
        </a:p>
      </dgm:t>
    </dgm:pt>
    <dgm:pt modelId="{0921799A-6A6A-449B-8137-55A47280F009}" type="sibTrans" cxnId="{E3CD02CF-708E-4D5D-94C6-A640A2D82EBD}">
      <dgm:prSet/>
      <dgm:spPr/>
      <dgm:t>
        <a:bodyPr/>
        <a:lstStyle/>
        <a:p>
          <a:endParaRPr lang="en-US"/>
        </a:p>
      </dgm:t>
    </dgm:pt>
    <dgm:pt modelId="{6145D499-9297-40F3-AD7A-CA42D61F4B17}">
      <dgm:prSet/>
      <dgm:spPr/>
      <dgm:t>
        <a:bodyPr/>
        <a:lstStyle/>
        <a:p>
          <a:r>
            <a:rPr lang="es-PE" b="1"/>
            <a:t>Tiempo:</a:t>
          </a:r>
          <a:r>
            <a:rPr lang="es-PE"/>
            <a:t> Para analizar ventas por fecha, hora, día de la semana, trimestre, mes, año. Se mapea a la tabla </a:t>
          </a:r>
          <a:r>
            <a:rPr lang="es-PE" b="1"/>
            <a:t>Dim.Tiempo</a:t>
          </a:r>
          <a:endParaRPr lang="en-US"/>
        </a:p>
      </dgm:t>
    </dgm:pt>
    <dgm:pt modelId="{E656E6BE-88A5-4C04-ACEB-66AEE4DCF9A2}" type="parTrans" cxnId="{C69D1E00-C88D-417C-AF2E-5A7BC25ABEB7}">
      <dgm:prSet/>
      <dgm:spPr/>
      <dgm:t>
        <a:bodyPr/>
        <a:lstStyle/>
        <a:p>
          <a:endParaRPr lang="en-US"/>
        </a:p>
      </dgm:t>
    </dgm:pt>
    <dgm:pt modelId="{5041A45D-2066-4CE8-B744-7621AD0083E2}" type="sibTrans" cxnId="{C69D1E00-C88D-417C-AF2E-5A7BC25ABEB7}">
      <dgm:prSet/>
      <dgm:spPr/>
      <dgm:t>
        <a:bodyPr/>
        <a:lstStyle/>
        <a:p>
          <a:endParaRPr lang="en-US"/>
        </a:p>
      </dgm:t>
    </dgm:pt>
    <dgm:pt modelId="{ACDE24BE-A75F-45B8-B413-4DA88DC980D4}">
      <dgm:prSet/>
      <dgm:spPr/>
      <dgm:t>
        <a:bodyPr/>
        <a:lstStyle/>
        <a:p>
          <a:r>
            <a:rPr lang="es-PE" b="1"/>
            <a:t>Empleado:</a:t>
          </a:r>
          <a:r>
            <a:rPr lang="es-PE"/>
            <a:t> Para analizar el desempeño de ventas por empleado. Se mapea a la tabla </a:t>
          </a:r>
          <a:r>
            <a:rPr lang="es-PE" b="1"/>
            <a:t>Dim.Empleado.</a:t>
          </a:r>
          <a:endParaRPr lang="en-US"/>
        </a:p>
      </dgm:t>
    </dgm:pt>
    <dgm:pt modelId="{C086B57E-EF2C-4F22-B8F6-712387BC25B0}" type="parTrans" cxnId="{2F8CF1BE-A3BC-43AB-97C9-160CF6C521FD}">
      <dgm:prSet/>
      <dgm:spPr/>
      <dgm:t>
        <a:bodyPr/>
        <a:lstStyle/>
        <a:p>
          <a:endParaRPr lang="en-US"/>
        </a:p>
      </dgm:t>
    </dgm:pt>
    <dgm:pt modelId="{A3D13003-8801-418E-9BCE-C7B8D886B7C0}" type="sibTrans" cxnId="{2F8CF1BE-A3BC-43AB-97C9-160CF6C521FD}">
      <dgm:prSet/>
      <dgm:spPr/>
      <dgm:t>
        <a:bodyPr/>
        <a:lstStyle/>
        <a:p>
          <a:endParaRPr lang="en-US"/>
        </a:p>
      </dgm:t>
    </dgm:pt>
    <dgm:pt modelId="{EFF32F11-3C4C-44C6-AEE9-0C5849599966}">
      <dgm:prSet/>
      <dgm:spPr/>
      <dgm:t>
        <a:bodyPr/>
        <a:lstStyle/>
        <a:p>
          <a:r>
            <a:rPr lang="es-PE" b="1"/>
            <a:t>Cliente:</a:t>
          </a:r>
          <a:r>
            <a:rPr lang="es-PE"/>
            <a:t> Para analizar las ventas por cliente. Se mapea a la tabla </a:t>
          </a:r>
          <a:r>
            <a:rPr lang="es-PE" b="1"/>
            <a:t>Dim.Cliente.</a:t>
          </a:r>
          <a:endParaRPr lang="en-US"/>
        </a:p>
      </dgm:t>
    </dgm:pt>
    <dgm:pt modelId="{8AA930E3-56E4-4329-8EA1-916FCF27B98B}" type="parTrans" cxnId="{439F4E91-5743-4DF0-AF80-3AE88D86A00B}">
      <dgm:prSet/>
      <dgm:spPr/>
      <dgm:t>
        <a:bodyPr/>
        <a:lstStyle/>
        <a:p>
          <a:endParaRPr lang="en-US"/>
        </a:p>
      </dgm:t>
    </dgm:pt>
    <dgm:pt modelId="{C672AE22-A370-4261-A667-C1AF0DB48353}" type="sibTrans" cxnId="{439F4E91-5743-4DF0-AF80-3AE88D86A00B}">
      <dgm:prSet/>
      <dgm:spPr/>
      <dgm:t>
        <a:bodyPr/>
        <a:lstStyle/>
        <a:p>
          <a:endParaRPr lang="en-US"/>
        </a:p>
      </dgm:t>
    </dgm:pt>
    <dgm:pt modelId="{923203C4-493A-4E84-9424-FAF5AF5AC3EE}">
      <dgm:prSet/>
      <dgm:spPr/>
      <dgm:t>
        <a:bodyPr/>
        <a:lstStyle/>
        <a:p>
          <a:r>
            <a:rPr lang="es-PE" b="1"/>
            <a:t>Producto:</a:t>
          </a:r>
          <a:r>
            <a:rPr lang="es-PE"/>
            <a:t> Para analizar ventas por tipo de producto, si es preparado o no, y el producto específico. Se mapea a la tabla </a:t>
          </a:r>
          <a:r>
            <a:rPr lang="es-PE" b="1"/>
            <a:t>Dim.Producto.</a:t>
          </a:r>
          <a:endParaRPr lang="en-US"/>
        </a:p>
      </dgm:t>
    </dgm:pt>
    <dgm:pt modelId="{AA709B52-3373-48A1-B0E3-EE20F8F31914}" type="parTrans" cxnId="{4AAB2820-4FDF-4DCE-B4E4-EF5A926C8719}">
      <dgm:prSet/>
      <dgm:spPr/>
      <dgm:t>
        <a:bodyPr/>
        <a:lstStyle/>
        <a:p>
          <a:endParaRPr lang="en-US"/>
        </a:p>
      </dgm:t>
    </dgm:pt>
    <dgm:pt modelId="{5514B8A1-975B-4671-9AF1-2A4148DF5CCA}" type="sibTrans" cxnId="{4AAB2820-4FDF-4DCE-B4E4-EF5A926C8719}">
      <dgm:prSet/>
      <dgm:spPr/>
      <dgm:t>
        <a:bodyPr/>
        <a:lstStyle/>
        <a:p>
          <a:endParaRPr lang="en-US"/>
        </a:p>
      </dgm:t>
    </dgm:pt>
    <dgm:pt modelId="{D3BB9051-831A-4373-B5F0-DCE98C8E1A90}">
      <dgm:prSet/>
      <dgm:spPr/>
      <dgm:t>
        <a:bodyPr/>
        <a:lstStyle/>
        <a:p>
          <a:r>
            <a:rPr lang="es-PE" b="1"/>
            <a:t>Mesa:</a:t>
          </a:r>
          <a:r>
            <a:rPr lang="es-PE"/>
            <a:t> Para analizar las ventas por ubicación física dentro del restaurante. Se mapea a la tabla </a:t>
          </a:r>
          <a:r>
            <a:rPr lang="es-PE" b="1"/>
            <a:t>Dim.Mesa.</a:t>
          </a:r>
          <a:endParaRPr lang="en-US"/>
        </a:p>
      </dgm:t>
    </dgm:pt>
    <dgm:pt modelId="{CFEB5D68-8EB3-4825-BB05-5C621A03EF1C}" type="parTrans" cxnId="{D0C62E1F-99CC-47AB-A9E9-4533AFB94AC8}">
      <dgm:prSet/>
      <dgm:spPr/>
      <dgm:t>
        <a:bodyPr/>
        <a:lstStyle/>
        <a:p>
          <a:endParaRPr lang="en-US"/>
        </a:p>
      </dgm:t>
    </dgm:pt>
    <dgm:pt modelId="{2A002F0C-E901-4251-A0DA-DDA7B4AB4BB1}" type="sibTrans" cxnId="{D0C62E1F-99CC-47AB-A9E9-4533AFB94AC8}">
      <dgm:prSet/>
      <dgm:spPr/>
      <dgm:t>
        <a:bodyPr/>
        <a:lstStyle/>
        <a:p>
          <a:endParaRPr lang="en-US"/>
        </a:p>
      </dgm:t>
    </dgm:pt>
    <dgm:pt modelId="{A9798A62-C4AF-4D80-81F2-E83BFAB8B978}" type="pres">
      <dgm:prSet presAssocID="{F7BB07B9-10A9-4DB4-B030-8EF80A3F70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3748F4-05DF-4F88-987D-C62BA5DFB0EE}" type="pres">
      <dgm:prSet presAssocID="{167ECB06-AE53-4603-9E85-9B380D554CB4}" presName="hierRoot1" presStyleCnt="0"/>
      <dgm:spPr/>
    </dgm:pt>
    <dgm:pt modelId="{5C7A6BBB-9EF3-4042-9885-C807A9F9EB2B}" type="pres">
      <dgm:prSet presAssocID="{167ECB06-AE53-4603-9E85-9B380D554CB4}" presName="composite" presStyleCnt="0"/>
      <dgm:spPr/>
    </dgm:pt>
    <dgm:pt modelId="{EAB0113E-0962-417C-8EFD-AFDA404D3E50}" type="pres">
      <dgm:prSet presAssocID="{167ECB06-AE53-4603-9E85-9B380D554CB4}" presName="background" presStyleLbl="node0" presStyleIdx="0" presStyleCnt="1"/>
      <dgm:spPr/>
    </dgm:pt>
    <dgm:pt modelId="{66069130-C26A-43DF-8925-BAE820A36642}" type="pres">
      <dgm:prSet presAssocID="{167ECB06-AE53-4603-9E85-9B380D554CB4}" presName="text" presStyleLbl="fgAcc0" presStyleIdx="0" presStyleCnt="1">
        <dgm:presLayoutVars>
          <dgm:chPref val="3"/>
        </dgm:presLayoutVars>
      </dgm:prSet>
      <dgm:spPr/>
    </dgm:pt>
    <dgm:pt modelId="{E4A18717-B565-4E68-83FB-7F3002CC12BC}" type="pres">
      <dgm:prSet presAssocID="{167ECB06-AE53-4603-9E85-9B380D554CB4}" presName="hierChild2" presStyleCnt="0"/>
      <dgm:spPr/>
    </dgm:pt>
    <dgm:pt modelId="{1BFCE5A9-21E8-478A-BC87-CE888DCEC66E}" type="pres">
      <dgm:prSet presAssocID="{E656E6BE-88A5-4C04-ACEB-66AEE4DCF9A2}" presName="Name10" presStyleLbl="parChTrans1D2" presStyleIdx="0" presStyleCnt="5"/>
      <dgm:spPr/>
    </dgm:pt>
    <dgm:pt modelId="{62BAD0F8-B406-41F7-9EEC-C6AD54B6CF7F}" type="pres">
      <dgm:prSet presAssocID="{6145D499-9297-40F3-AD7A-CA42D61F4B17}" presName="hierRoot2" presStyleCnt="0"/>
      <dgm:spPr/>
    </dgm:pt>
    <dgm:pt modelId="{38F74E45-ECA1-41A2-BB8B-4A50B4455804}" type="pres">
      <dgm:prSet presAssocID="{6145D499-9297-40F3-AD7A-CA42D61F4B17}" presName="composite2" presStyleCnt="0"/>
      <dgm:spPr/>
    </dgm:pt>
    <dgm:pt modelId="{87064AF6-9643-45C3-95F5-C8F1D6F3713E}" type="pres">
      <dgm:prSet presAssocID="{6145D499-9297-40F3-AD7A-CA42D61F4B17}" presName="background2" presStyleLbl="node2" presStyleIdx="0" presStyleCnt="5"/>
      <dgm:spPr/>
    </dgm:pt>
    <dgm:pt modelId="{6BF3A166-CB84-44A1-B227-65BB97837901}" type="pres">
      <dgm:prSet presAssocID="{6145D499-9297-40F3-AD7A-CA42D61F4B17}" presName="text2" presStyleLbl="fgAcc2" presStyleIdx="0" presStyleCnt="5">
        <dgm:presLayoutVars>
          <dgm:chPref val="3"/>
        </dgm:presLayoutVars>
      </dgm:prSet>
      <dgm:spPr/>
    </dgm:pt>
    <dgm:pt modelId="{0AD4F1C5-6917-48A6-BFF0-8C4CC7B6DD05}" type="pres">
      <dgm:prSet presAssocID="{6145D499-9297-40F3-AD7A-CA42D61F4B17}" presName="hierChild3" presStyleCnt="0"/>
      <dgm:spPr/>
    </dgm:pt>
    <dgm:pt modelId="{ADD2E32D-FCD9-4E4A-B812-36A271BFD72E}" type="pres">
      <dgm:prSet presAssocID="{C086B57E-EF2C-4F22-B8F6-712387BC25B0}" presName="Name10" presStyleLbl="parChTrans1D2" presStyleIdx="1" presStyleCnt="5"/>
      <dgm:spPr/>
    </dgm:pt>
    <dgm:pt modelId="{CBDCD51F-F641-41DA-A8AB-20B2F409B25F}" type="pres">
      <dgm:prSet presAssocID="{ACDE24BE-A75F-45B8-B413-4DA88DC980D4}" presName="hierRoot2" presStyleCnt="0"/>
      <dgm:spPr/>
    </dgm:pt>
    <dgm:pt modelId="{16AD4317-ADCB-4DBD-9B61-648DF0B8E44D}" type="pres">
      <dgm:prSet presAssocID="{ACDE24BE-A75F-45B8-B413-4DA88DC980D4}" presName="composite2" presStyleCnt="0"/>
      <dgm:spPr/>
    </dgm:pt>
    <dgm:pt modelId="{6B0A69F8-FE8C-4D5E-9D46-06F5E1F0A33D}" type="pres">
      <dgm:prSet presAssocID="{ACDE24BE-A75F-45B8-B413-4DA88DC980D4}" presName="background2" presStyleLbl="node2" presStyleIdx="1" presStyleCnt="5"/>
      <dgm:spPr/>
    </dgm:pt>
    <dgm:pt modelId="{1508A76F-F455-4AA2-AD5B-F9657F54A898}" type="pres">
      <dgm:prSet presAssocID="{ACDE24BE-A75F-45B8-B413-4DA88DC980D4}" presName="text2" presStyleLbl="fgAcc2" presStyleIdx="1" presStyleCnt="5">
        <dgm:presLayoutVars>
          <dgm:chPref val="3"/>
        </dgm:presLayoutVars>
      </dgm:prSet>
      <dgm:spPr/>
    </dgm:pt>
    <dgm:pt modelId="{E045E5B0-08BD-4128-BFA9-54015B695D30}" type="pres">
      <dgm:prSet presAssocID="{ACDE24BE-A75F-45B8-B413-4DA88DC980D4}" presName="hierChild3" presStyleCnt="0"/>
      <dgm:spPr/>
    </dgm:pt>
    <dgm:pt modelId="{3DF37154-0FCF-46EA-9D7E-F45711D24891}" type="pres">
      <dgm:prSet presAssocID="{8AA930E3-56E4-4329-8EA1-916FCF27B98B}" presName="Name10" presStyleLbl="parChTrans1D2" presStyleIdx="2" presStyleCnt="5"/>
      <dgm:spPr/>
    </dgm:pt>
    <dgm:pt modelId="{52A34BA4-E155-4D3E-9C86-F316CFC2F12F}" type="pres">
      <dgm:prSet presAssocID="{EFF32F11-3C4C-44C6-AEE9-0C5849599966}" presName="hierRoot2" presStyleCnt="0"/>
      <dgm:spPr/>
    </dgm:pt>
    <dgm:pt modelId="{065ED73B-C0B8-4694-BB1C-E12A3943D1DC}" type="pres">
      <dgm:prSet presAssocID="{EFF32F11-3C4C-44C6-AEE9-0C5849599966}" presName="composite2" presStyleCnt="0"/>
      <dgm:spPr/>
    </dgm:pt>
    <dgm:pt modelId="{F1339493-0985-4823-B4A1-078E171418DF}" type="pres">
      <dgm:prSet presAssocID="{EFF32F11-3C4C-44C6-AEE9-0C5849599966}" presName="background2" presStyleLbl="node2" presStyleIdx="2" presStyleCnt="5"/>
      <dgm:spPr/>
    </dgm:pt>
    <dgm:pt modelId="{B5C69CBB-16DD-435C-9CA2-F35B9F29789A}" type="pres">
      <dgm:prSet presAssocID="{EFF32F11-3C4C-44C6-AEE9-0C5849599966}" presName="text2" presStyleLbl="fgAcc2" presStyleIdx="2" presStyleCnt="5">
        <dgm:presLayoutVars>
          <dgm:chPref val="3"/>
        </dgm:presLayoutVars>
      </dgm:prSet>
      <dgm:spPr/>
    </dgm:pt>
    <dgm:pt modelId="{B9345706-5ED7-4227-A382-A25E8FEDC1BD}" type="pres">
      <dgm:prSet presAssocID="{EFF32F11-3C4C-44C6-AEE9-0C5849599966}" presName="hierChild3" presStyleCnt="0"/>
      <dgm:spPr/>
    </dgm:pt>
    <dgm:pt modelId="{E713F59C-6E11-43D0-A534-0077875D1E7D}" type="pres">
      <dgm:prSet presAssocID="{AA709B52-3373-48A1-B0E3-EE20F8F31914}" presName="Name10" presStyleLbl="parChTrans1D2" presStyleIdx="3" presStyleCnt="5"/>
      <dgm:spPr/>
    </dgm:pt>
    <dgm:pt modelId="{C958440B-0551-4FB5-ABB7-C35F07B1EF4F}" type="pres">
      <dgm:prSet presAssocID="{923203C4-493A-4E84-9424-FAF5AF5AC3EE}" presName="hierRoot2" presStyleCnt="0"/>
      <dgm:spPr/>
    </dgm:pt>
    <dgm:pt modelId="{89D71ABB-855B-430E-84BC-EE14C4625944}" type="pres">
      <dgm:prSet presAssocID="{923203C4-493A-4E84-9424-FAF5AF5AC3EE}" presName="composite2" presStyleCnt="0"/>
      <dgm:spPr/>
    </dgm:pt>
    <dgm:pt modelId="{5CAF8B30-1A97-4818-A1F2-5F57DD95987E}" type="pres">
      <dgm:prSet presAssocID="{923203C4-493A-4E84-9424-FAF5AF5AC3EE}" presName="background2" presStyleLbl="node2" presStyleIdx="3" presStyleCnt="5"/>
      <dgm:spPr/>
    </dgm:pt>
    <dgm:pt modelId="{98AE86F2-78C6-48F1-B8A0-76652DD6427E}" type="pres">
      <dgm:prSet presAssocID="{923203C4-493A-4E84-9424-FAF5AF5AC3EE}" presName="text2" presStyleLbl="fgAcc2" presStyleIdx="3" presStyleCnt="5">
        <dgm:presLayoutVars>
          <dgm:chPref val="3"/>
        </dgm:presLayoutVars>
      </dgm:prSet>
      <dgm:spPr/>
    </dgm:pt>
    <dgm:pt modelId="{0790521E-F4AB-4D0B-831C-8910B54228CE}" type="pres">
      <dgm:prSet presAssocID="{923203C4-493A-4E84-9424-FAF5AF5AC3EE}" presName="hierChild3" presStyleCnt="0"/>
      <dgm:spPr/>
    </dgm:pt>
    <dgm:pt modelId="{28EA4320-3BF2-4763-949C-55F554575770}" type="pres">
      <dgm:prSet presAssocID="{CFEB5D68-8EB3-4825-BB05-5C621A03EF1C}" presName="Name10" presStyleLbl="parChTrans1D2" presStyleIdx="4" presStyleCnt="5"/>
      <dgm:spPr/>
    </dgm:pt>
    <dgm:pt modelId="{8FA491EC-90E4-4968-95B4-0AE45392C32C}" type="pres">
      <dgm:prSet presAssocID="{D3BB9051-831A-4373-B5F0-DCE98C8E1A90}" presName="hierRoot2" presStyleCnt="0"/>
      <dgm:spPr/>
    </dgm:pt>
    <dgm:pt modelId="{A4FC22FD-680F-4254-BDD6-32F17510AE89}" type="pres">
      <dgm:prSet presAssocID="{D3BB9051-831A-4373-B5F0-DCE98C8E1A90}" presName="composite2" presStyleCnt="0"/>
      <dgm:spPr/>
    </dgm:pt>
    <dgm:pt modelId="{63B6ED65-3C67-47AC-9372-1C153D0649AE}" type="pres">
      <dgm:prSet presAssocID="{D3BB9051-831A-4373-B5F0-DCE98C8E1A90}" presName="background2" presStyleLbl="node2" presStyleIdx="4" presStyleCnt="5"/>
      <dgm:spPr/>
    </dgm:pt>
    <dgm:pt modelId="{180002F4-4EEF-4A46-8530-222F9638DF8B}" type="pres">
      <dgm:prSet presAssocID="{D3BB9051-831A-4373-B5F0-DCE98C8E1A90}" presName="text2" presStyleLbl="fgAcc2" presStyleIdx="4" presStyleCnt="5">
        <dgm:presLayoutVars>
          <dgm:chPref val="3"/>
        </dgm:presLayoutVars>
      </dgm:prSet>
      <dgm:spPr/>
    </dgm:pt>
    <dgm:pt modelId="{CC9BE14C-7A17-45B4-BB0A-98A02ABE3A52}" type="pres">
      <dgm:prSet presAssocID="{D3BB9051-831A-4373-B5F0-DCE98C8E1A90}" presName="hierChild3" presStyleCnt="0"/>
      <dgm:spPr/>
    </dgm:pt>
  </dgm:ptLst>
  <dgm:cxnLst>
    <dgm:cxn modelId="{C69D1E00-C88D-417C-AF2E-5A7BC25ABEB7}" srcId="{167ECB06-AE53-4603-9E85-9B380D554CB4}" destId="{6145D499-9297-40F3-AD7A-CA42D61F4B17}" srcOrd="0" destOrd="0" parTransId="{E656E6BE-88A5-4C04-ACEB-66AEE4DCF9A2}" sibTransId="{5041A45D-2066-4CE8-B744-7621AD0083E2}"/>
    <dgm:cxn modelId="{8F204009-F297-49D9-A201-40FAFC9841B3}" type="presOf" srcId="{923203C4-493A-4E84-9424-FAF5AF5AC3EE}" destId="{98AE86F2-78C6-48F1-B8A0-76652DD6427E}" srcOrd="0" destOrd="0" presId="urn:microsoft.com/office/officeart/2005/8/layout/hierarchy1"/>
    <dgm:cxn modelId="{4F93AE19-6567-4C05-9694-D28449F66889}" type="presOf" srcId="{6145D499-9297-40F3-AD7A-CA42D61F4B17}" destId="{6BF3A166-CB84-44A1-B227-65BB97837901}" srcOrd="0" destOrd="0" presId="urn:microsoft.com/office/officeart/2005/8/layout/hierarchy1"/>
    <dgm:cxn modelId="{D0C62E1F-99CC-47AB-A9E9-4533AFB94AC8}" srcId="{167ECB06-AE53-4603-9E85-9B380D554CB4}" destId="{D3BB9051-831A-4373-B5F0-DCE98C8E1A90}" srcOrd="4" destOrd="0" parTransId="{CFEB5D68-8EB3-4825-BB05-5C621A03EF1C}" sibTransId="{2A002F0C-E901-4251-A0DA-DDA7B4AB4BB1}"/>
    <dgm:cxn modelId="{4AAB2820-4FDF-4DCE-B4E4-EF5A926C8719}" srcId="{167ECB06-AE53-4603-9E85-9B380D554CB4}" destId="{923203C4-493A-4E84-9424-FAF5AF5AC3EE}" srcOrd="3" destOrd="0" parTransId="{AA709B52-3373-48A1-B0E3-EE20F8F31914}" sibTransId="{5514B8A1-975B-4671-9AF1-2A4148DF5CCA}"/>
    <dgm:cxn modelId="{758A0C27-2DF7-45CA-8CA2-071C5EED6478}" type="presOf" srcId="{E656E6BE-88A5-4C04-ACEB-66AEE4DCF9A2}" destId="{1BFCE5A9-21E8-478A-BC87-CE888DCEC66E}" srcOrd="0" destOrd="0" presId="urn:microsoft.com/office/officeart/2005/8/layout/hierarchy1"/>
    <dgm:cxn modelId="{592B5F2E-B43D-4D04-AEFE-A859D40D0E61}" type="presOf" srcId="{AA709B52-3373-48A1-B0E3-EE20F8F31914}" destId="{E713F59C-6E11-43D0-A534-0077875D1E7D}" srcOrd="0" destOrd="0" presId="urn:microsoft.com/office/officeart/2005/8/layout/hierarchy1"/>
    <dgm:cxn modelId="{3716C148-3F96-4628-8B6C-4CF22B05AD0E}" type="presOf" srcId="{D3BB9051-831A-4373-B5F0-DCE98C8E1A90}" destId="{180002F4-4EEF-4A46-8530-222F9638DF8B}" srcOrd="0" destOrd="0" presId="urn:microsoft.com/office/officeart/2005/8/layout/hierarchy1"/>
    <dgm:cxn modelId="{BF5CF559-2753-48DD-A2EC-408B9807B9DF}" type="presOf" srcId="{ACDE24BE-A75F-45B8-B413-4DA88DC980D4}" destId="{1508A76F-F455-4AA2-AD5B-F9657F54A898}" srcOrd="0" destOrd="0" presId="urn:microsoft.com/office/officeart/2005/8/layout/hierarchy1"/>
    <dgm:cxn modelId="{5CE6767B-8513-440E-B4D1-A9100FBF745C}" type="presOf" srcId="{167ECB06-AE53-4603-9E85-9B380D554CB4}" destId="{66069130-C26A-43DF-8925-BAE820A36642}" srcOrd="0" destOrd="0" presId="urn:microsoft.com/office/officeart/2005/8/layout/hierarchy1"/>
    <dgm:cxn modelId="{009F0A88-3B1B-4688-97F7-77C7770CC3E7}" type="presOf" srcId="{F7BB07B9-10A9-4DB4-B030-8EF80A3F70C3}" destId="{A9798A62-C4AF-4D80-81F2-E83BFAB8B978}" srcOrd="0" destOrd="0" presId="urn:microsoft.com/office/officeart/2005/8/layout/hierarchy1"/>
    <dgm:cxn modelId="{439F4E91-5743-4DF0-AF80-3AE88D86A00B}" srcId="{167ECB06-AE53-4603-9E85-9B380D554CB4}" destId="{EFF32F11-3C4C-44C6-AEE9-0C5849599966}" srcOrd="2" destOrd="0" parTransId="{8AA930E3-56E4-4329-8EA1-916FCF27B98B}" sibTransId="{C672AE22-A370-4261-A667-C1AF0DB48353}"/>
    <dgm:cxn modelId="{AA52D69D-4E57-436D-A1A0-BB24806810B5}" type="presOf" srcId="{8AA930E3-56E4-4329-8EA1-916FCF27B98B}" destId="{3DF37154-0FCF-46EA-9D7E-F45711D24891}" srcOrd="0" destOrd="0" presId="urn:microsoft.com/office/officeart/2005/8/layout/hierarchy1"/>
    <dgm:cxn modelId="{2F8CF1BE-A3BC-43AB-97C9-160CF6C521FD}" srcId="{167ECB06-AE53-4603-9E85-9B380D554CB4}" destId="{ACDE24BE-A75F-45B8-B413-4DA88DC980D4}" srcOrd="1" destOrd="0" parTransId="{C086B57E-EF2C-4F22-B8F6-712387BC25B0}" sibTransId="{A3D13003-8801-418E-9BCE-C7B8D886B7C0}"/>
    <dgm:cxn modelId="{FC7FCBCC-E8F1-4C76-9ABC-A79F3EDA5D8A}" type="presOf" srcId="{CFEB5D68-8EB3-4825-BB05-5C621A03EF1C}" destId="{28EA4320-3BF2-4763-949C-55F554575770}" srcOrd="0" destOrd="0" presId="urn:microsoft.com/office/officeart/2005/8/layout/hierarchy1"/>
    <dgm:cxn modelId="{E3CD02CF-708E-4D5D-94C6-A640A2D82EBD}" srcId="{F7BB07B9-10A9-4DB4-B030-8EF80A3F70C3}" destId="{167ECB06-AE53-4603-9E85-9B380D554CB4}" srcOrd="0" destOrd="0" parTransId="{DDFD8F92-19D4-4C4D-AD19-5AE0AB3CB026}" sibTransId="{0921799A-6A6A-449B-8137-55A47280F009}"/>
    <dgm:cxn modelId="{DC8C3BD8-92CD-420D-BC55-54160ECCC721}" type="presOf" srcId="{C086B57E-EF2C-4F22-B8F6-712387BC25B0}" destId="{ADD2E32D-FCD9-4E4A-B812-36A271BFD72E}" srcOrd="0" destOrd="0" presId="urn:microsoft.com/office/officeart/2005/8/layout/hierarchy1"/>
    <dgm:cxn modelId="{4D7F85E7-96B1-4BF7-AB07-007085F01A14}" type="presOf" srcId="{EFF32F11-3C4C-44C6-AEE9-0C5849599966}" destId="{B5C69CBB-16DD-435C-9CA2-F35B9F29789A}" srcOrd="0" destOrd="0" presId="urn:microsoft.com/office/officeart/2005/8/layout/hierarchy1"/>
    <dgm:cxn modelId="{DB76E77C-2E4A-46B9-BD04-7484F4D40E7E}" type="presParOf" srcId="{A9798A62-C4AF-4D80-81F2-E83BFAB8B978}" destId="{803748F4-05DF-4F88-987D-C62BA5DFB0EE}" srcOrd="0" destOrd="0" presId="urn:microsoft.com/office/officeart/2005/8/layout/hierarchy1"/>
    <dgm:cxn modelId="{B425F9A7-85D4-45ED-91D3-9B38CB625984}" type="presParOf" srcId="{803748F4-05DF-4F88-987D-C62BA5DFB0EE}" destId="{5C7A6BBB-9EF3-4042-9885-C807A9F9EB2B}" srcOrd="0" destOrd="0" presId="urn:microsoft.com/office/officeart/2005/8/layout/hierarchy1"/>
    <dgm:cxn modelId="{45C81FD2-895F-4E0B-BE3E-F5405732538B}" type="presParOf" srcId="{5C7A6BBB-9EF3-4042-9885-C807A9F9EB2B}" destId="{EAB0113E-0962-417C-8EFD-AFDA404D3E50}" srcOrd="0" destOrd="0" presId="urn:microsoft.com/office/officeart/2005/8/layout/hierarchy1"/>
    <dgm:cxn modelId="{83A30642-B96C-4134-AB12-E6ED34F44A22}" type="presParOf" srcId="{5C7A6BBB-9EF3-4042-9885-C807A9F9EB2B}" destId="{66069130-C26A-43DF-8925-BAE820A36642}" srcOrd="1" destOrd="0" presId="urn:microsoft.com/office/officeart/2005/8/layout/hierarchy1"/>
    <dgm:cxn modelId="{53261D21-EC21-431D-85C6-1CD1BE814052}" type="presParOf" srcId="{803748F4-05DF-4F88-987D-C62BA5DFB0EE}" destId="{E4A18717-B565-4E68-83FB-7F3002CC12BC}" srcOrd="1" destOrd="0" presId="urn:microsoft.com/office/officeart/2005/8/layout/hierarchy1"/>
    <dgm:cxn modelId="{E9A5BE83-A3AF-4A02-BBAB-C6D679C6B5FE}" type="presParOf" srcId="{E4A18717-B565-4E68-83FB-7F3002CC12BC}" destId="{1BFCE5A9-21E8-478A-BC87-CE888DCEC66E}" srcOrd="0" destOrd="0" presId="urn:microsoft.com/office/officeart/2005/8/layout/hierarchy1"/>
    <dgm:cxn modelId="{D04EB083-302F-4BBE-8D17-C87A6880C5ED}" type="presParOf" srcId="{E4A18717-B565-4E68-83FB-7F3002CC12BC}" destId="{62BAD0F8-B406-41F7-9EEC-C6AD54B6CF7F}" srcOrd="1" destOrd="0" presId="urn:microsoft.com/office/officeart/2005/8/layout/hierarchy1"/>
    <dgm:cxn modelId="{5554C24C-9DF2-47F7-BFC8-CA6FB1872BBF}" type="presParOf" srcId="{62BAD0F8-B406-41F7-9EEC-C6AD54B6CF7F}" destId="{38F74E45-ECA1-41A2-BB8B-4A50B4455804}" srcOrd="0" destOrd="0" presId="urn:microsoft.com/office/officeart/2005/8/layout/hierarchy1"/>
    <dgm:cxn modelId="{AED2B636-BDEA-481C-B255-98879CDAF7C1}" type="presParOf" srcId="{38F74E45-ECA1-41A2-BB8B-4A50B4455804}" destId="{87064AF6-9643-45C3-95F5-C8F1D6F3713E}" srcOrd="0" destOrd="0" presId="urn:microsoft.com/office/officeart/2005/8/layout/hierarchy1"/>
    <dgm:cxn modelId="{1367770A-E010-4A45-A3FC-F37B0BFF9D38}" type="presParOf" srcId="{38F74E45-ECA1-41A2-BB8B-4A50B4455804}" destId="{6BF3A166-CB84-44A1-B227-65BB97837901}" srcOrd="1" destOrd="0" presId="urn:microsoft.com/office/officeart/2005/8/layout/hierarchy1"/>
    <dgm:cxn modelId="{AB9D7C71-F809-4195-9AD7-95D3B15D2C72}" type="presParOf" srcId="{62BAD0F8-B406-41F7-9EEC-C6AD54B6CF7F}" destId="{0AD4F1C5-6917-48A6-BFF0-8C4CC7B6DD05}" srcOrd="1" destOrd="0" presId="urn:microsoft.com/office/officeart/2005/8/layout/hierarchy1"/>
    <dgm:cxn modelId="{7BC8F6EA-74B8-4D47-97AC-3317A7AD8FB1}" type="presParOf" srcId="{E4A18717-B565-4E68-83FB-7F3002CC12BC}" destId="{ADD2E32D-FCD9-4E4A-B812-36A271BFD72E}" srcOrd="2" destOrd="0" presId="urn:microsoft.com/office/officeart/2005/8/layout/hierarchy1"/>
    <dgm:cxn modelId="{6913F0AC-65B1-44C8-A916-832B91FB4B2D}" type="presParOf" srcId="{E4A18717-B565-4E68-83FB-7F3002CC12BC}" destId="{CBDCD51F-F641-41DA-A8AB-20B2F409B25F}" srcOrd="3" destOrd="0" presId="urn:microsoft.com/office/officeart/2005/8/layout/hierarchy1"/>
    <dgm:cxn modelId="{8269700D-D6E3-40C7-BDDB-22E1F7D8F84E}" type="presParOf" srcId="{CBDCD51F-F641-41DA-A8AB-20B2F409B25F}" destId="{16AD4317-ADCB-4DBD-9B61-648DF0B8E44D}" srcOrd="0" destOrd="0" presId="urn:microsoft.com/office/officeart/2005/8/layout/hierarchy1"/>
    <dgm:cxn modelId="{F8D43B46-C01A-450E-B60B-B6A336BD0740}" type="presParOf" srcId="{16AD4317-ADCB-4DBD-9B61-648DF0B8E44D}" destId="{6B0A69F8-FE8C-4D5E-9D46-06F5E1F0A33D}" srcOrd="0" destOrd="0" presId="urn:microsoft.com/office/officeart/2005/8/layout/hierarchy1"/>
    <dgm:cxn modelId="{6E4296E5-602B-45C2-9820-ADA269D585D2}" type="presParOf" srcId="{16AD4317-ADCB-4DBD-9B61-648DF0B8E44D}" destId="{1508A76F-F455-4AA2-AD5B-F9657F54A898}" srcOrd="1" destOrd="0" presId="urn:microsoft.com/office/officeart/2005/8/layout/hierarchy1"/>
    <dgm:cxn modelId="{3492C61B-4316-40D7-A725-6B7D08EDDC14}" type="presParOf" srcId="{CBDCD51F-F641-41DA-A8AB-20B2F409B25F}" destId="{E045E5B0-08BD-4128-BFA9-54015B695D30}" srcOrd="1" destOrd="0" presId="urn:microsoft.com/office/officeart/2005/8/layout/hierarchy1"/>
    <dgm:cxn modelId="{3E2E249C-EA99-4CBB-8BA1-B894A2D83CAF}" type="presParOf" srcId="{E4A18717-B565-4E68-83FB-7F3002CC12BC}" destId="{3DF37154-0FCF-46EA-9D7E-F45711D24891}" srcOrd="4" destOrd="0" presId="urn:microsoft.com/office/officeart/2005/8/layout/hierarchy1"/>
    <dgm:cxn modelId="{6A56DDF6-0210-410A-BE71-B522E94512A7}" type="presParOf" srcId="{E4A18717-B565-4E68-83FB-7F3002CC12BC}" destId="{52A34BA4-E155-4D3E-9C86-F316CFC2F12F}" srcOrd="5" destOrd="0" presId="urn:microsoft.com/office/officeart/2005/8/layout/hierarchy1"/>
    <dgm:cxn modelId="{A6BA8882-F5EB-4357-99A0-930626B7D2E1}" type="presParOf" srcId="{52A34BA4-E155-4D3E-9C86-F316CFC2F12F}" destId="{065ED73B-C0B8-4694-BB1C-E12A3943D1DC}" srcOrd="0" destOrd="0" presId="urn:microsoft.com/office/officeart/2005/8/layout/hierarchy1"/>
    <dgm:cxn modelId="{C61DFF4E-7F2A-45F4-8097-D9585E1AF939}" type="presParOf" srcId="{065ED73B-C0B8-4694-BB1C-E12A3943D1DC}" destId="{F1339493-0985-4823-B4A1-078E171418DF}" srcOrd="0" destOrd="0" presId="urn:microsoft.com/office/officeart/2005/8/layout/hierarchy1"/>
    <dgm:cxn modelId="{694537BA-4298-4FA3-8B81-1C62D3C85380}" type="presParOf" srcId="{065ED73B-C0B8-4694-BB1C-E12A3943D1DC}" destId="{B5C69CBB-16DD-435C-9CA2-F35B9F29789A}" srcOrd="1" destOrd="0" presId="urn:microsoft.com/office/officeart/2005/8/layout/hierarchy1"/>
    <dgm:cxn modelId="{9AD42767-F4D8-471B-8361-3131956E3B97}" type="presParOf" srcId="{52A34BA4-E155-4D3E-9C86-F316CFC2F12F}" destId="{B9345706-5ED7-4227-A382-A25E8FEDC1BD}" srcOrd="1" destOrd="0" presId="urn:microsoft.com/office/officeart/2005/8/layout/hierarchy1"/>
    <dgm:cxn modelId="{F10579A2-5953-4A0A-88C0-2C3D0FACCB47}" type="presParOf" srcId="{E4A18717-B565-4E68-83FB-7F3002CC12BC}" destId="{E713F59C-6E11-43D0-A534-0077875D1E7D}" srcOrd="6" destOrd="0" presId="urn:microsoft.com/office/officeart/2005/8/layout/hierarchy1"/>
    <dgm:cxn modelId="{9D51681A-3267-4F1F-9260-144902B90C5B}" type="presParOf" srcId="{E4A18717-B565-4E68-83FB-7F3002CC12BC}" destId="{C958440B-0551-4FB5-ABB7-C35F07B1EF4F}" srcOrd="7" destOrd="0" presId="urn:microsoft.com/office/officeart/2005/8/layout/hierarchy1"/>
    <dgm:cxn modelId="{4592AD58-E87B-48FE-B055-56A8614DF6AE}" type="presParOf" srcId="{C958440B-0551-4FB5-ABB7-C35F07B1EF4F}" destId="{89D71ABB-855B-430E-84BC-EE14C4625944}" srcOrd="0" destOrd="0" presId="urn:microsoft.com/office/officeart/2005/8/layout/hierarchy1"/>
    <dgm:cxn modelId="{09728AC7-1F34-44C5-8A2C-CF7210631B00}" type="presParOf" srcId="{89D71ABB-855B-430E-84BC-EE14C4625944}" destId="{5CAF8B30-1A97-4818-A1F2-5F57DD95987E}" srcOrd="0" destOrd="0" presId="urn:microsoft.com/office/officeart/2005/8/layout/hierarchy1"/>
    <dgm:cxn modelId="{6FB25EEC-6AB1-484A-B0CB-6BF14DECDC89}" type="presParOf" srcId="{89D71ABB-855B-430E-84BC-EE14C4625944}" destId="{98AE86F2-78C6-48F1-B8A0-76652DD6427E}" srcOrd="1" destOrd="0" presId="urn:microsoft.com/office/officeart/2005/8/layout/hierarchy1"/>
    <dgm:cxn modelId="{F2AFDD60-5B65-4C35-9ACD-4C61A00EB558}" type="presParOf" srcId="{C958440B-0551-4FB5-ABB7-C35F07B1EF4F}" destId="{0790521E-F4AB-4D0B-831C-8910B54228CE}" srcOrd="1" destOrd="0" presId="urn:microsoft.com/office/officeart/2005/8/layout/hierarchy1"/>
    <dgm:cxn modelId="{0A3ED6F4-2631-4ED7-B4BB-97921F4B1160}" type="presParOf" srcId="{E4A18717-B565-4E68-83FB-7F3002CC12BC}" destId="{28EA4320-3BF2-4763-949C-55F554575770}" srcOrd="8" destOrd="0" presId="urn:microsoft.com/office/officeart/2005/8/layout/hierarchy1"/>
    <dgm:cxn modelId="{82F41FA1-DBAD-42D2-92C6-069E70C213D9}" type="presParOf" srcId="{E4A18717-B565-4E68-83FB-7F3002CC12BC}" destId="{8FA491EC-90E4-4968-95B4-0AE45392C32C}" srcOrd="9" destOrd="0" presId="urn:microsoft.com/office/officeart/2005/8/layout/hierarchy1"/>
    <dgm:cxn modelId="{32E5290B-7313-43B8-A914-6396F754C456}" type="presParOf" srcId="{8FA491EC-90E4-4968-95B4-0AE45392C32C}" destId="{A4FC22FD-680F-4254-BDD6-32F17510AE89}" srcOrd="0" destOrd="0" presId="urn:microsoft.com/office/officeart/2005/8/layout/hierarchy1"/>
    <dgm:cxn modelId="{86A41834-F0F8-4F18-80BA-B4B5AAF5BD3D}" type="presParOf" srcId="{A4FC22FD-680F-4254-BDD6-32F17510AE89}" destId="{63B6ED65-3C67-47AC-9372-1C153D0649AE}" srcOrd="0" destOrd="0" presId="urn:microsoft.com/office/officeart/2005/8/layout/hierarchy1"/>
    <dgm:cxn modelId="{CF0732FD-0A41-4989-9C93-BB629E791EF3}" type="presParOf" srcId="{A4FC22FD-680F-4254-BDD6-32F17510AE89}" destId="{180002F4-4EEF-4A46-8530-222F9638DF8B}" srcOrd="1" destOrd="0" presId="urn:microsoft.com/office/officeart/2005/8/layout/hierarchy1"/>
    <dgm:cxn modelId="{4F39D89C-44D4-47C5-B775-0A14DEEFA024}" type="presParOf" srcId="{8FA491EC-90E4-4968-95B4-0AE45392C32C}" destId="{CC9BE14C-7A17-45B4-BB0A-98A02ABE3A5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C2E79-A1F4-4799-80D8-8284A0B35F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1C822F-1672-44B9-81AA-A4DAC0D95865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="1" dirty="0"/>
            <a:t>Ingresos venta:</a:t>
          </a:r>
          <a:r>
            <a:rPr lang="es-PE" dirty="0"/>
            <a:t> Se puede ver los ingresos totales por día, por mes, por tipo de producto, por empleado, por cliente, etc.</a:t>
          </a:r>
          <a:endParaRPr lang="en-US" dirty="0"/>
        </a:p>
      </dgm:t>
    </dgm:pt>
    <dgm:pt modelId="{75B31EB7-F7C2-40CC-9529-CB32F638EB87}" type="parTrans" cxnId="{F10CE5A7-6163-4ACB-9E00-268662E86262}">
      <dgm:prSet/>
      <dgm:spPr/>
      <dgm:t>
        <a:bodyPr/>
        <a:lstStyle/>
        <a:p>
          <a:endParaRPr lang="en-US"/>
        </a:p>
      </dgm:t>
    </dgm:pt>
    <dgm:pt modelId="{B83AF0F9-17B2-4A5E-B083-223DB59743BF}" type="sibTrans" cxnId="{F10CE5A7-6163-4ACB-9E00-268662E86262}">
      <dgm:prSet/>
      <dgm:spPr/>
      <dgm:t>
        <a:bodyPr/>
        <a:lstStyle/>
        <a:p>
          <a:endParaRPr lang="en-US"/>
        </a:p>
      </dgm:t>
    </dgm:pt>
    <dgm:pt modelId="{B5FEE43E-BB9E-415B-BFC0-8917F1ED2B0B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="1"/>
            <a:t>Número de ventas:</a:t>
          </a:r>
          <a:r>
            <a:rPr lang="es-PE"/>
            <a:t> Se puede contar el número de pedidos por día, por mes, por tipo de pedido, por empleado, etc.</a:t>
          </a:r>
          <a:endParaRPr lang="en-US"/>
        </a:p>
      </dgm:t>
    </dgm:pt>
    <dgm:pt modelId="{1AC4DA8F-30D7-42F7-9850-151166B067DB}" type="parTrans" cxnId="{62B88FB9-8E7D-4F32-BEA4-BEF2D20193F7}">
      <dgm:prSet/>
      <dgm:spPr/>
      <dgm:t>
        <a:bodyPr/>
        <a:lstStyle/>
        <a:p>
          <a:endParaRPr lang="en-US"/>
        </a:p>
      </dgm:t>
    </dgm:pt>
    <dgm:pt modelId="{2742A1F6-AEF2-4193-B136-0BB02113C17C}" type="sibTrans" cxnId="{62B88FB9-8E7D-4F32-BEA4-BEF2D20193F7}">
      <dgm:prSet/>
      <dgm:spPr/>
      <dgm:t>
        <a:bodyPr/>
        <a:lstStyle/>
        <a:p>
          <a:endParaRPr lang="en-US"/>
        </a:p>
      </dgm:t>
    </dgm:pt>
    <dgm:pt modelId="{3D622C55-36CA-4B20-8389-B8B00D900667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="1"/>
            <a:t>Venta completa:</a:t>
          </a:r>
          <a:r>
            <a:rPr lang="es-PE"/>
            <a:t> Se puede ver las ventas completadas por día, por mes, por tipo de producto, por empleado, por cliente, etc.</a:t>
          </a:r>
          <a:endParaRPr lang="en-US"/>
        </a:p>
      </dgm:t>
    </dgm:pt>
    <dgm:pt modelId="{07FC2267-8D8A-4A29-BA09-1AC570BEC901}" type="parTrans" cxnId="{DF1A469B-052C-4C30-9E60-E30CD4A1CC7E}">
      <dgm:prSet/>
      <dgm:spPr/>
      <dgm:t>
        <a:bodyPr/>
        <a:lstStyle/>
        <a:p>
          <a:endParaRPr lang="en-US"/>
        </a:p>
      </dgm:t>
    </dgm:pt>
    <dgm:pt modelId="{1E45126B-DF17-42F2-9EA4-E62E2A04011B}" type="sibTrans" cxnId="{DF1A469B-052C-4C30-9E60-E30CD4A1CC7E}">
      <dgm:prSet/>
      <dgm:spPr/>
      <dgm:t>
        <a:bodyPr/>
        <a:lstStyle/>
        <a:p>
          <a:endParaRPr lang="en-US"/>
        </a:p>
      </dgm:t>
    </dgm:pt>
    <dgm:pt modelId="{009C6DC4-1F35-4EEC-80E5-9AF0B3B1E242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="1"/>
            <a:t>Costo: </a:t>
          </a:r>
          <a:r>
            <a:rPr lang="es-PE"/>
            <a:t>permite visualizar el costo asociado a los productos vendidos.</a:t>
          </a:r>
          <a:endParaRPr lang="en-US"/>
        </a:p>
      </dgm:t>
    </dgm:pt>
    <dgm:pt modelId="{B4C99520-ADE1-4162-85C6-D89393637193}" type="parTrans" cxnId="{CF2D3341-9F48-4972-8DBA-9C5742987590}">
      <dgm:prSet/>
      <dgm:spPr/>
      <dgm:t>
        <a:bodyPr/>
        <a:lstStyle/>
        <a:p>
          <a:endParaRPr lang="en-US"/>
        </a:p>
      </dgm:t>
    </dgm:pt>
    <dgm:pt modelId="{70AB8103-A9E8-43EF-A2E7-1C75E80E8C51}" type="sibTrans" cxnId="{CF2D3341-9F48-4972-8DBA-9C5742987590}">
      <dgm:prSet/>
      <dgm:spPr/>
      <dgm:t>
        <a:bodyPr/>
        <a:lstStyle/>
        <a:p>
          <a:endParaRPr lang="en-US"/>
        </a:p>
      </dgm:t>
    </dgm:pt>
    <dgm:pt modelId="{32A261C5-832E-4E4F-A502-540368619E2C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="1"/>
            <a:t>Margen: </a:t>
          </a:r>
          <a:r>
            <a:rPr lang="es-PE"/>
            <a:t>Permite calcular la diferencia entre el precio de venta y el costo (precio – costo).</a:t>
          </a:r>
          <a:endParaRPr lang="en-US"/>
        </a:p>
      </dgm:t>
    </dgm:pt>
    <dgm:pt modelId="{054D7C98-0008-4654-B7F8-C4B0A3B4D070}" type="parTrans" cxnId="{33E5E5AA-474A-40E8-8F0D-73698ECDF962}">
      <dgm:prSet/>
      <dgm:spPr/>
      <dgm:t>
        <a:bodyPr/>
        <a:lstStyle/>
        <a:p>
          <a:endParaRPr lang="en-US"/>
        </a:p>
      </dgm:t>
    </dgm:pt>
    <dgm:pt modelId="{2CE23638-C36C-4C37-851E-2DD902887FF5}" type="sibTrans" cxnId="{33E5E5AA-474A-40E8-8F0D-73698ECDF962}">
      <dgm:prSet/>
      <dgm:spPr/>
      <dgm:t>
        <a:bodyPr/>
        <a:lstStyle/>
        <a:p>
          <a:endParaRPr lang="en-US"/>
        </a:p>
      </dgm:t>
    </dgm:pt>
    <dgm:pt modelId="{769B1141-F249-4FE1-9515-F1C40992B131}" type="pres">
      <dgm:prSet presAssocID="{1DDC2E79-A1F4-4799-80D8-8284A0B35FF0}" presName="root" presStyleCnt="0">
        <dgm:presLayoutVars>
          <dgm:dir/>
          <dgm:resizeHandles val="exact"/>
        </dgm:presLayoutVars>
      </dgm:prSet>
      <dgm:spPr/>
    </dgm:pt>
    <dgm:pt modelId="{49A6BE02-51B6-4BB6-9A09-F31FDD92909C}" type="pres">
      <dgm:prSet presAssocID="{F71C822F-1672-44B9-81AA-A4DAC0D95865}" presName="compNode" presStyleCnt="0"/>
      <dgm:spPr/>
    </dgm:pt>
    <dgm:pt modelId="{88DBE4C0-8715-4F3B-8324-49A67F570A8C}" type="pres">
      <dgm:prSet presAssocID="{F71C822F-1672-44B9-81AA-A4DAC0D95865}" presName="bgRect" presStyleLbl="bgShp" presStyleIdx="0" presStyleCnt="5"/>
      <dgm:spPr/>
    </dgm:pt>
    <dgm:pt modelId="{0A6ED037-EEA6-40E5-877F-6A217CC77AE0}" type="pres">
      <dgm:prSet presAssocID="{F71C822F-1672-44B9-81AA-A4DAC0D9586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7F2126D2-324D-4002-8AE4-B01DA5D3A3DC}" type="pres">
      <dgm:prSet presAssocID="{F71C822F-1672-44B9-81AA-A4DAC0D95865}" presName="spaceRect" presStyleCnt="0"/>
      <dgm:spPr/>
    </dgm:pt>
    <dgm:pt modelId="{82E3AC4B-FE38-44CB-9210-1052B1EA0776}" type="pres">
      <dgm:prSet presAssocID="{F71C822F-1672-44B9-81AA-A4DAC0D95865}" presName="parTx" presStyleLbl="revTx" presStyleIdx="0" presStyleCnt="5">
        <dgm:presLayoutVars>
          <dgm:chMax val="0"/>
          <dgm:chPref val="0"/>
        </dgm:presLayoutVars>
      </dgm:prSet>
      <dgm:spPr/>
    </dgm:pt>
    <dgm:pt modelId="{3BF6F018-130F-4187-A53C-C312AFF2F401}" type="pres">
      <dgm:prSet presAssocID="{B83AF0F9-17B2-4A5E-B083-223DB59743BF}" presName="sibTrans" presStyleCnt="0"/>
      <dgm:spPr/>
    </dgm:pt>
    <dgm:pt modelId="{76FC362B-21CC-42D7-91B9-CD74F19F8ED8}" type="pres">
      <dgm:prSet presAssocID="{B5FEE43E-BB9E-415B-BFC0-8917F1ED2B0B}" presName="compNode" presStyleCnt="0"/>
      <dgm:spPr/>
    </dgm:pt>
    <dgm:pt modelId="{F679F5EC-3D68-4422-B015-EEA6A541C897}" type="pres">
      <dgm:prSet presAssocID="{B5FEE43E-BB9E-415B-BFC0-8917F1ED2B0B}" presName="bgRect" presStyleLbl="bgShp" presStyleIdx="1" presStyleCnt="5"/>
      <dgm:spPr/>
    </dgm:pt>
    <dgm:pt modelId="{351A4610-24BA-4756-9E60-0A2C2C17F318}" type="pres">
      <dgm:prSet presAssocID="{B5FEE43E-BB9E-415B-BFC0-8917F1ED2B0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ódigo de barras"/>
        </a:ext>
      </dgm:extLst>
    </dgm:pt>
    <dgm:pt modelId="{E025D27F-78B2-4088-A03D-1EBF6C78231F}" type="pres">
      <dgm:prSet presAssocID="{B5FEE43E-BB9E-415B-BFC0-8917F1ED2B0B}" presName="spaceRect" presStyleCnt="0"/>
      <dgm:spPr/>
    </dgm:pt>
    <dgm:pt modelId="{D16D5901-CD23-4B6B-96BD-03E897696876}" type="pres">
      <dgm:prSet presAssocID="{B5FEE43E-BB9E-415B-BFC0-8917F1ED2B0B}" presName="parTx" presStyleLbl="revTx" presStyleIdx="1" presStyleCnt="5">
        <dgm:presLayoutVars>
          <dgm:chMax val="0"/>
          <dgm:chPref val="0"/>
        </dgm:presLayoutVars>
      </dgm:prSet>
      <dgm:spPr/>
    </dgm:pt>
    <dgm:pt modelId="{63819E4C-052E-4194-BBFC-D8FF4F242C12}" type="pres">
      <dgm:prSet presAssocID="{2742A1F6-AEF2-4193-B136-0BB02113C17C}" presName="sibTrans" presStyleCnt="0"/>
      <dgm:spPr/>
    </dgm:pt>
    <dgm:pt modelId="{7879A841-53B4-4F89-AC0F-3C3BA6F4EA23}" type="pres">
      <dgm:prSet presAssocID="{3D622C55-36CA-4B20-8389-B8B00D900667}" presName="compNode" presStyleCnt="0"/>
      <dgm:spPr/>
    </dgm:pt>
    <dgm:pt modelId="{D94C80EF-B68F-4495-9CE1-2F0BCE8840D7}" type="pres">
      <dgm:prSet presAssocID="{3D622C55-36CA-4B20-8389-B8B00D900667}" presName="bgRect" presStyleLbl="bgShp" presStyleIdx="2" presStyleCnt="5"/>
      <dgm:spPr/>
    </dgm:pt>
    <dgm:pt modelId="{F4F78563-A09A-43C0-93BD-EF1515E45A0D}" type="pres">
      <dgm:prSet presAssocID="{3D622C55-36CA-4B20-8389-B8B00D90066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enda"/>
        </a:ext>
      </dgm:extLst>
    </dgm:pt>
    <dgm:pt modelId="{38D0C6EE-32EA-452A-BF87-53695C4C2B56}" type="pres">
      <dgm:prSet presAssocID="{3D622C55-36CA-4B20-8389-B8B00D900667}" presName="spaceRect" presStyleCnt="0"/>
      <dgm:spPr/>
    </dgm:pt>
    <dgm:pt modelId="{DCDD36F0-FCC9-43CF-BED5-FC34A410E338}" type="pres">
      <dgm:prSet presAssocID="{3D622C55-36CA-4B20-8389-B8B00D900667}" presName="parTx" presStyleLbl="revTx" presStyleIdx="2" presStyleCnt="5">
        <dgm:presLayoutVars>
          <dgm:chMax val="0"/>
          <dgm:chPref val="0"/>
        </dgm:presLayoutVars>
      </dgm:prSet>
      <dgm:spPr/>
    </dgm:pt>
    <dgm:pt modelId="{D60FA437-ECEB-4648-8C64-54C50B1DA5A3}" type="pres">
      <dgm:prSet presAssocID="{1E45126B-DF17-42F2-9EA4-E62E2A04011B}" presName="sibTrans" presStyleCnt="0"/>
      <dgm:spPr/>
    </dgm:pt>
    <dgm:pt modelId="{E8C5AD49-D9B5-4E1F-8754-364C4FF79299}" type="pres">
      <dgm:prSet presAssocID="{009C6DC4-1F35-4EEC-80E5-9AF0B3B1E242}" presName="compNode" presStyleCnt="0"/>
      <dgm:spPr/>
    </dgm:pt>
    <dgm:pt modelId="{9C6A4F1E-A206-4363-A90D-9F20C8233A00}" type="pres">
      <dgm:prSet presAssocID="{009C6DC4-1F35-4EEC-80E5-9AF0B3B1E242}" presName="bgRect" presStyleLbl="bgShp" presStyleIdx="3" presStyleCnt="5"/>
      <dgm:spPr/>
    </dgm:pt>
    <dgm:pt modelId="{89E846B2-698E-451C-870C-1FF26107C29D}" type="pres">
      <dgm:prSet presAssocID="{009C6DC4-1F35-4EEC-80E5-9AF0B3B1E24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0347F4BD-1B2D-432A-AD24-A5B879DDE9B7}" type="pres">
      <dgm:prSet presAssocID="{009C6DC4-1F35-4EEC-80E5-9AF0B3B1E242}" presName="spaceRect" presStyleCnt="0"/>
      <dgm:spPr/>
    </dgm:pt>
    <dgm:pt modelId="{A36649BD-B3D9-424C-B926-0467CA18F934}" type="pres">
      <dgm:prSet presAssocID="{009C6DC4-1F35-4EEC-80E5-9AF0B3B1E242}" presName="parTx" presStyleLbl="revTx" presStyleIdx="3" presStyleCnt="5">
        <dgm:presLayoutVars>
          <dgm:chMax val="0"/>
          <dgm:chPref val="0"/>
        </dgm:presLayoutVars>
      </dgm:prSet>
      <dgm:spPr/>
    </dgm:pt>
    <dgm:pt modelId="{475AA8E3-5EA2-41BB-98C2-E2B7D79ADCD3}" type="pres">
      <dgm:prSet presAssocID="{70AB8103-A9E8-43EF-A2E7-1C75E80E8C51}" presName="sibTrans" presStyleCnt="0"/>
      <dgm:spPr/>
    </dgm:pt>
    <dgm:pt modelId="{6001E0A5-FD2E-4CA6-B26B-DAF9BE870054}" type="pres">
      <dgm:prSet presAssocID="{32A261C5-832E-4E4F-A502-540368619E2C}" presName="compNode" presStyleCnt="0"/>
      <dgm:spPr/>
    </dgm:pt>
    <dgm:pt modelId="{6CEFBA66-D0E4-46DD-B4BB-2986F7833B84}" type="pres">
      <dgm:prSet presAssocID="{32A261C5-832E-4E4F-A502-540368619E2C}" presName="bgRect" presStyleLbl="bgShp" presStyleIdx="4" presStyleCnt="5"/>
      <dgm:spPr/>
    </dgm:pt>
    <dgm:pt modelId="{84B2CFD0-2FEB-4D55-823C-DE3F7A352F8F}" type="pres">
      <dgm:prSet presAssocID="{32A261C5-832E-4E4F-A502-540368619E2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5C529263-D779-4F00-AB2D-840107F1832B}" type="pres">
      <dgm:prSet presAssocID="{32A261C5-832E-4E4F-A502-540368619E2C}" presName="spaceRect" presStyleCnt="0"/>
      <dgm:spPr/>
    </dgm:pt>
    <dgm:pt modelId="{A9218DEB-652F-4C5B-A132-C565A9C533F9}" type="pres">
      <dgm:prSet presAssocID="{32A261C5-832E-4E4F-A502-540368619E2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64CE10C-CC38-4F60-8B39-F90CBE9900FC}" type="presOf" srcId="{32A261C5-832E-4E4F-A502-540368619E2C}" destId="{A9218DEB-652F-4C5B-A132-C565A9C533F9}" srcOrd="0" destOrd="0" presId="urn:microsoft.com/office/officeart/2018/2/layout/IconVerticalSolidList"/>
    <dgm:cxn modelId="{BF4A230F-1910-45B9-89FF-701A9B0AF4B1}" type="presOf" srcId="{F71C822F-1672-44B9-81AA-A4DAC0D95865}" destId="{82E3AC4B-FE38-44CB-9210-1052B1EA0776}" srcOrd="0" destOrd="0" presId="urn:microsoft.com/office/officeart/2018/2/layout/IconVerticalSolidList"/>
    <dgm:cxn modelId="{EBC3401A-2C8D-4C23-BE9E-0159B3AE030D}" type="presOf" srcId="{009C6DC4-1F35-4EEC-80E5-9AF0B3B1E242}" destId="{A36649BD-B3D9-424C-B926-0467CA18F934}" srcOrd="0" destOrd="0" presId="urn:microsoft.com/office/officeart/2018/2/layout/IconVerticalSolidList"/>
    <dgm:cxn modelId="{CF2D3341-9F48-4972-8DBA-9C5742987590}" srcId="{1DDC2E79-A1F4-4799-80D8-8284A0B35FF0}" destId="{009C6DC4-1F35-4EEC-80E5-9AF0B3B1E242}" srcOrd="3" destOrd="0" parTransId="{B4C99520-ADE1-4162-85C6-D89393637193}" sibTransId="{70AB8103-A9E8-43EF-A2E7-1C75E80E8C51}"/>
    <dgm:cxn modelId="{4D1A5190-7E60-4323-8A86-7337E10A6C49}" type="presOf" srcId="{3D622C55-36CA-4B20-8389-B8B00D900667}" destId="{DCDD36F0-FCC9-43CF-BED5-FC34A410E338}" srcOrd="0" destOrd="0" presId="urn:microsoft.com/office/officeart/2018/2/layout/IconVerticalSolidList"/>
    <dgm:cxn modelId="{DF1A469B-052C-4C30-9E60-E30CD4A1CC7E}" srcId="{1DDC2E79-A1F4-4799-80D8-8284A0B35FF0}" destId="{3D622C55-36CA-4B20-8389-B8B00D900667}" srcOrd="2" destOrd="0" parTransId="{07FC2267-8D8A-4A29-BA09-1AC570BEC901}" sibTransId="{1E45126B-DF17-42F2-9EA4-E62E2A04011B}"/>
    <dgm:cxn modelId="{F10CE5A7-6163-4ACB-9E00-268662E86262}" srcId="{1DDC2E79-A1F4-4799-80D8-8284A0B35FF0}" destId="{F71C822F-1672-44B9-81AA-A4DAC0D95865}" srcOrd="0" destOrd="0" parTransId="{75B31EB7-F7C2-40CC-9529-CB32F638EB87}" sibTransId="{B83AF0F9-17B2-4A5E-B083-223DB59743BF}"/>
    <dgm:cxn modelId="{33E5E5AA-474A-40E8-8F0D-73698ECDF962}" srcId="{1DDC2E79-A1F4-4799-80D8-8284A0B35FF0}" destId="{32A261C5-832E-4E4F-A502-540368619E2C}" srcOrd="4" destOrd="0" parTransId="{054D7C98-0008-4654-B7F8-C4B0A3B4D070}" sibTransId="{2CE23638-C36C-4C37-851E-2DD902887FF5}"/>
    <dgm:cxn modelId="{2C405EAF-A78C-40BB-B371-0813D04CC02D}" type="presOf" srcId="{1DDC2E79-A1F4-4799-80D8-8284A0B35FF0}" destId="{769B1141-F249-4FE1-9515-F1C40992B131}" srcOrd="0" destOrd="0" presId="urn:microsoft.com/office/officeart/2018/2/layout/IconVerticalSolidList"/>
    <dgm:cxn modelId="{C547A7B1-ED03-4122-BE5D-53AEAC29AB15}" type="presOf" srcId="{B5FEE43E-BB9E-415B-BFC0-8917F1ED2B0B}" destId="{D16D5901-CD23-4B6B-96BD-03E897696876}" srcOrd="0" destOrd="0" presId="urn:microsoft.com/office/officeart/2018/2/layout/IconVerticalSolidList"/>
    <dgm:cxn modelId="{62B88FB9-8E7D-4F32-BEA4-BEF2D20193F7}" srcId="{1DDC2E79-A1F4-4799-80D8-8284A0B35FF0}" destId="{B5FEE43E-BB9E-415B-BFC0-8917F1ED2B0B}" srcOrd="1" destOrd="0" parTransId="{1AC4DA8F-30D7-42F7-9850-151166B067DB}" sibTransId="{2742A1F6-AEF2-4193-B136-0BB02113C17C}"/>
    <dgm:cxn modelId="{AD8A5A56-0CAA-4918-BC5B-76F28A6B973E}" type="presParOf" srcId="{769B1141-F249-4FE1-9515-F1C40992B131}" destId="{49A6BE02-51B6-4BB6-9A09-F31FDD92909C}" srcOrd="0" destOrd="0" presId="urn:microsoft.com/office/officeart/2018/2/layout/IconVerticalSolidList"/>
    <dgm:cxn modelId="{3A8AB73F-E66E-4423-A664-06000697208D}" type="presParOf" srcId="{49A6BE02-51B6-4BB6-9A09-F31FDD92909C}" destId="{88DBE4C0-8715-4F3B-8324-49A67F570A8C}" srcOrd="0" destOrd="0" presId="urn:microsoft.com/office/officeart/2018/2/layout/IconVerticalSolidList"/>
    <dgm:cxn modelId="{59F9D609-5C05-4AA3-B44C-BECA3F8428E9}" type="presParOf" srcId="{49A6BE02-51B6-4BB6-9A09-F31FDD92909C}" destId="{0A6ED037-EEA6-40E5-877F-6A217CC77AE0}" srcOrd="1" destOrd="0" presId="urn:microsoft.com/office/officeart/2018/2/layout/IconVerticalSolidList"/>
    <dgm:cxn modelId="{54177AFF-7A8B-4F42-9B00-28E3418B109C}" type="presParOf" srcId="{49A6BE02-51B6-4BB6-9A09-F31FDD92909C}" destId="{7F2126D2-324D-4002-8AE4-B01DA5D3A3DC}" srcOrd="2" destOrd="0" presId="urn:microsoft.com/office/officeart/2018/2/layout/IconVerticalSolidList"/>
    <dgm:cxn modelId="{4F4F643E-0FBC-4973-8162-CD43AC676A48}" type="presParOf" srcId="{49A6BE02-51B6-4BB6-9A09-F31FDD92909C}" destId="{82E3AC4B-FE38-44CB-9210-1052B1EA0776}" srcOrd="3" destOrd="0" presId="urn:microsoft.com/office/officeart/2018/2/layout/IconVerticalSolidList"/>
    <dgm:cxn modelId="{20F043D1-131D-42A1-8B34-5E1740AAB665}" type="presParOf" srcId="{769B1141-F249-4FE1-9515-F1C40992B131}" destId="{3BF6F018-130F-4187-A53C-C312AFF2F401}" srcOrd="1" destOrd="0" presId="urn:microsoft.com/office/officeart/2018/2/layout/IconVerticalSolidList"/>
    <dgm:cxn modelId="{11AC4FE3-D49F-4E3B-BD44-62402D79043F}" type="presParOf" srcId="{769B1141-F249-4FE1-9515-F1C40992B131}" destId="{76FC362B-21CC-42D7-91B9-CD74F19F8ED8}" srcOrd="2" destOrd="0" presId="urn:microsoft.com/office/officeart/2018/2/layout/IconVerticalSolidList"/>
    <dgm:cxn modelId="{5AC8FBDA-4B09-4F69-BEF9-8C1E7804A4BC}" type="presParOf" srcId="{76FC362B-21CC-42D7-91B9-CD74F19F8ED8}" destId="{F679F5EC-3D68-4422-B015-EEA6A541C897}" srcOrd="0" destOrd="0" presId="urn:microsoft.com/office/officeart/2018/2/layout/IconVerticalSolidList"/>
    <dgm:cxn modelId="{35144C7B-035F-4FD2-93C2-183378117C9C}" type="presParOf" srcId="{76FC362B-21CC-42D7-91B9-CD74F19F8ED8}" destId="{351A4610-24BA-4756-9E60-0A2C2C17F318}" srcOrd="1" destOrd="0" presId="urn:microsoft.com/office/officeart/2018/2/layout/IconVerticalSolidList"/>
    <dgm:cxn modelId="{01C770A3-D0A1-4A29-A9FA-71B60E216FD6}" type="presParOf" srcId="{76FC362B-21CC-42D7-91B9-CD74F19F8ED8}" destId="{E025D27F-78B2-4088-A03D-1EBF6C78231F}" srcOrd="2" destOrd="0" presId="urn:microsoft.com/office/officeart/2018/2/layout/IconVerticalSolidList"/>
    <dgm:cxn modelId="{78910E9E-7AE9-40E7-B52D-310864C3227A}" type="presParOf" srcId="{76FC362B-21CC-42D7-91B9-CD74F19F8ED8}" destId="{D16D5901-CD23-4B6B-96BD-03E897696876}" srcOrd="3" destOrd="0" presId="urn:microsoft.com/office/officeart/2018/2/layout/IconVerticalSolidList"/>
    <dgm:cxn modelId="{70CA6416-FEAC-4F4B-88EA-E789B382A55E}" type="presParOf" srcId="{769B1141-F249-4FE1-9515-F1C40992B131}" destId="{63819E4C-052E-4194-BBFC-D8FF4F242C12}" srcOrd="3" destOrd="0" presId="urn:microsoft.com/office/officeart/2018/2/layout/IconVerticalSolidList"/>
    <dgm:cxn modelId="{79B3FF9C-BE86-4970-BE5D-5C25E775C9C2}" type="presParOf" srcId="{769B1141-F249-4FE1-9515-F1C40992B131}" destId="{7879A841-53B4-4F89-AC0F-3C3BA6F4EA23}" srcOrd="4" destOrd="0" presId="urn:microsoft.com/office/officeart/2018/2/layout/IconVerticalSolidList"/>
    <dgm:cxn modelId="{1ED51FBB-F1A2-4FBC-9403-F11A1FDD14D3}" type="presParOf" srcId="{7879A841-53B4-4F89-AC0F-3C3BA6F4EA23}" destId="{D94C80EF-B68F-4495-9CE1-2F0BCE8840D7}" srcOrd="0" destOrd="0" presId="urn:microsoft.com/office/officeart/2018/2/layout/IconVerticalSolidList"/>
    <dgm:cxn modelId="{64A12C81-5B88-42F5-BB29-F48A1E18F241}" type="presParOf" srcId="{7879A841-53B4-4F89-AC0F-3C3BA6F4EA23}" destId="{F4F78563-A09A-43C0-93BD-EF1515E45A0D}" srcOrd="1" destOrd="0" presId="urn:microsoft.com/office/officeart/2018/2/layout/IconVerticalSolidList"/>
    <dgm:cxn modelId="{A1FF6EB5-C5E4-406A-94E3-FFF5ADC793C4}" type="presParOf" srcId="{7879A841-53B4-4F89-AC0F-3C3BA6F4EA23}" destId="{38D0C6EE-32EA-452A-BF87-53695C4C2B56}" srcOrd="2" destOrd="0" presId="urn:microsoft.com/office/officeart/2018/2/layout/IconVerticalSolidList"/>
    <dgm:cxn modelId="{1D33C6CE-EACA-4C4F-855A-52A101C288DA}" type="presParOf" srcId="{7879A841-53B4-4F89-AC0F-3C3BA6F4EA23}" destId="{DCDD36F0-FCC9-43CF-BED5-FC34A410E338}" srcOrd="3" destOrd="0" presId="urn:microsoft.com/office/officeart/2018/2/layout/IconVerticalSolidList"/>
    <dgm:cxn modelId="{09FE5592-2681-40BE-B934-B611727F1010}" type="presParOf" srcId="{769B1141-F249-4FE1-9515-F1C40992B131}" destId="{D60FA437-ECEB-4648-8C64-54C50B1DA5A3}" srcOrd="5" destOrd="0" presId="urn:microsoft.com/office/officeart/2018/2/layout/IconVerticalSolidList"/>
    <dgm:cxn modelId="{9667A197-9D44-4CFC-BB37-6BBA0EE4A515}" type="presParOf" srcId="{769B1141-F249-4FE1-9515-F1C40992B131}" destId="{E8C5AD49-D9B5-4E1F-8754-364C4FF79299}" srcOrd="6" destOrd="0" presId="urn:microsoft.com/office/officeart/2018/2/layout/IconVerticalSolidList"/>
    <dgm:cxn modelId="{04E9B7BC-8F8E-46E0-A095-647F3A2F22F2}" type="presParOf" srcId="{E8C5AD49-D9B5-4E1F-8754-364C4FF79299}" destId="{9C6A4F1E-A206-4363-A90D-9F20C8233A00}" srcOrd="0" destOrd="0" presId="urn:microsoft.com/office/officeart/2018/2/layout/IconVerticalSolidList"/>
    <dgm:cxn modelId="{CBB2406F-8E21-4599-9C78-0825DC101FA0}" type="presParOf" srcId="{E8C5AD49-D9B5-4E1F-8754-364C4FF79299}" destId="{89E846B2-698E-451C-870C-1FF26107C29D}" srcOrd="1" destOrd="0" presId="urn:microsoft.com/office/officeart/2018/2/layout/IconVerticalSolidList"/>
    <dgm:cxn modelId="{F6650383-43A2-471A-9512-00B4BA05A996}" type="presParOf" srcId="{E8C5AD49-D9B5-4E1F-8754-364C4FF79299}" destId="{0347F4BD-1B2D-432A-AD24-A5B879DDE9B7}" srcOrd="2" destOrd="0" presId="urn:microsoft.com/office/officeart/2018/2/layout/IconVerticalSolidList"/>
    <dgm:cxn modelId="{1D1910C0-59EF-4A06-97B3-526E13BEEBF8}" type="presParOf" srcId="{E8C5AD49-D9B5-4E1F-8754-364C4FF79299}" destId="{A36649BD-B3D9-424C-B926-0467CA18F934}" srcOrd="3" destOrd="0" presId="urn:microsoft.com/office/officeart/2018/2/layout/IconVerticalSolidList"/>
    <dgm:cxn modelId="{17F890C7-1DF2-47FD-9D3E-8989DA42ACED}" type="presParOf" srcId="{769B1141-F249-4FE1-9515-F1C40992B131}" destId="{475AA8E3-5EA2-41BB-98C2-E2B7D79ADCD3}" srcOrd="7" destOrd="0" presId="urn:microsoft.com/office/officeart/2018/2/layout/IconVerticalSolidList"/>
    <dgm:cxn modelId="{A8A687B6-9894-4771-8244-E9D172495C5A}" type="presParOf" srcId="{769B1141-F249-4FE1-9515-F1C40992B131}" destId="{6001E0A5-FD2E-4CA6-B26B-DAF9BE870054}" srcOrd="8" destOrd="0" presId="urn:microsoft.com/office/officeart/2018/2/layout/IconVerticalSolidList"/>
    <dgm:cxn modelId="{33118A0F-FF6E-4ACA-A9A1-9D4377CDE979}" type="presParOf" srcId="{6001E0A5-FD2E-4CA6-B26B-DAF9BE870054}" destId="{6CEFBA66-D0E4-46DD-B4BB-2986F7833B84}" srcOrd="0" destOrd="0" presId="urn:microsoft.com/office/officeart/2018/2/layout/IconVerticalSolidList"/>
    <dgm:cxn modelId="{0DD8CE92-79C1-49FE-8960-F99DD83B988C}" type="presParOf" srcId="{6001E0A5-FD2E-4CA6-B26B-DAF9BE870054}" destId="{84B2CFD0-2FEB-4D55-823C-DE3F7A352F8F}" srcOrd="1" destOrd="0" presId="urn:microsoft.com/office/officeart/2018/2/layout/IconVerticalSolidList"/>
    <dgm:cxn modelId="{EF626541-38F1-4D20-8790-CC3CD82EAE5A}" type="presParOf" srcId="{6001E0A5-FD2E-4CA6-B26B-DAF9BE870054}" destId="{5C529263-D779-4F00-AB2D-840107F1832B}" srcOrd="2" destOrd="0" presId="urn:microsoft.com/office/officeart/2018/2/layout/IconVerticalSolidList"/>
    <dgm:cxn modelId="{C297FEE0-26B9-4B4D-8EF9-7B95E4E6F244}" type="presParOf" srcId="{6001E0A5-FD2E-4CA6-B26B-DAF9BE870054}" destId="{A9218DEB-652F-4C5B-A132-C565A9C533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933FBF-340A-4DD4-A892-C26CBBB28C6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16100-321B-450E-BC92-B515F8715D66}">
      <dgm:prSet custT="1"/>
      <dgm:spPr/>
      <dgm:t>
        <a:bodyPr/>
        <a:lstStyle/>
        <a:p>
          <a:r>
            <a:rPr lang="es-PE" sz="1400" dirty="0"/>
            <a:t>Características de los recursos utilizados en el desarrollo del DATAMART</a:t>
          </a:r>
          <a:endParaRPr lang="en-US" sz="1400" dirty="0"/>
        </a:p>
      </dgm:t>
    </dgm:pt>
    <dgm:pt modelId="{1DEDB4A4-C19B-4AA7-A569-2D28A9FD3799}" type="parTrans" cxnId="{D529E1EA-77D4-4FE5-8614-F8439F269945}">
      <dgm:prSet/>
      <dgm:spPr/>
      <dgm:t>
        <a:bodyPr/>
        <a:lstStyle/>
        <a:p>
          <a:endParaRPr lang="en-US" sz="3600"/>
        </a:p>
      </dgm:t>
    </dgm:pt>
    <dgm:pt modelId="{F09F200F-D16B-483E-B958-DA74C97B0D4E}" type="sibTrans" cxnId="{D529E1EA-77D4-4FE5-8614-F8439F269945}">
      <dgm:prSet/>
      <dgm:spPr/>
      <dgm:t>
        <a:bodyPr/>
        <a:lstStyle/>
        <a:p>
          <a:endParaRPr lang="en-US" sz="3600"/>
        </a:p>
      </dgm:t>
    </dgm:pt>
    <dgm:pt modelId="{719BABC8-9D88-4430-B475-971780BA2034}">
      <dgm:prSet custT="1"/>
      <dgm:spPr/>
      <dgm:t>
        <a:bodyPr/>
        <a:lstStyle/>
        <a:p>
          <a:r>
            <a:rPr lang="es-PE" sz="1400"/>
            <a:t>Hardware: Computadora personal.</a:t>
          </a:r>
          <a:endParaRPr lang="en-US" sz="1400"/>
        </a:p>
      </dgm:t>
    </dgm:pt>
    <dgm:pt modelId="{59089906-5518-41AC-B43D-7ABFD67B154B}" type="parTrans" cxnId="{54F837E5-3BE7-4731-ABCC-2DB5203D1A2B}">
      <dgm:prSet/>
      <dgm:spPr/>
      <dgm:t>
        <a:bodyPr/>
        <a:lstStyle/>
        <a:p>
          <a:endParaRPr lang="en-US" sz="3600"/>
        </a:p>
      </dgm:t>
    </dgm:pt>
    <dgm:pt modelId="{8FF10389-C481-4D79-B37A-6ABBB54D1653}" type="sibTrans" cxnId="{54F837E5-3BE7-4731-ABCC-2DB5203D1A2B}">
      <dgm:prSet/>
      <dgm:spPr/>
      <dgm:t>
        <a:bodyPr/>
        <a:lstStyle/>
        <a:p>
          <a:endParaRPr lang="en-US" sz="3600"/>
        </a:p>
      </dgm:t>
    </dgm:pt>
    <dgm:pt modelId="{0CCD4AA5-35E6-4556-8090-D95625A7D0FC}">
      <dgm:prSet custT="1"/>
      <dgm:spPr/>
      <dgm:t>
        <a:bodyPr/>
        <a:lstStyle/>
        <a:p>
          <a:r>
            <a:rPr lang="es-PE" sz="1400"/>
            <a:t>Servidores: Computadora personal.</a:t>
          </a:r>
          <a:endParaRPr lang="en-US" sz="1400"/>
        </a:p>
      </dgm:t>
    </dgm:pt>
    <dgm:pt modelId="{04E2FA69-85AB-4A8A-A50E-3BD5F5799CC0}" type="parTrans" cxnId="{5A17E3AB-5B5E-401B-8B34-2B89F8CBAC57}">
      <dgm:prSet/>
      <dgm:spPr/>
      <dgm:t>
        <a:bodyPr/>
        <a:lstStyle/>
        <a:p>
          <a:endParaRPr lang="en-US" sz="3600"/>
        </a:p>
      </dgm:t>
    </dgm:pt>
    <dgm:pt modelId="{03C1D2BF-EA97-4EE7-ADF6-E785A37DD7AA}" type="sibTrans" cxnId="{5A17E3AB-5B5E-401B-8B34-2B89F8CBAC57}">
      <dgm:prSet/>
      <dgm:spPr/>
      <dgm:t>
        <a:bodyPr/>
        <a:lstStyle/>
        <a:p>
          <a:endParaRPr lang="en-US" sz="3600"/>
        </a:p>
      </dgm:t>
    </dgm:pt>
    <dgm:pt modelId="{8E7EF072-215A-4C8F-A8E9-063FF4A0E741}">
      <dgm:prSet custT="1"/>
      <dgm:spPr/>
      <dgm:t>
        <a:bodyPr/>
        <a:lstStyle/>
        <a:p>
          <a:r>
            <a:rPr lang="es-PE" sz="1400"/>
            <a:t>SQL Server</a:t>
          </a:r>
          <a:endParaRPr lang="en-US" sz="1400"/>
        </a:p>
      </dgm:t>
    </dgm:pt>
    <dgm:pt modelId="{24143EA5-4F09-4125-BB7C-D6886DDEE0C6}" type="parTrans" cxnId="{28567E48-798B-4402-AC08-FB557EAF78C7}">
      <dgm:prSet/>
      <dgm:spPr/>
      <dgm:t>
        <a:bodyPr/>
        <a:lstStyle/>
        <a:p>
          <a:endParaRPr lang="en-US" sz="3600"/>
        </a:p>
      </dgm:t>
    </dgm:pt>
    <dgm:pt modelId="{3C40428F-3338-4B1F-80CE-EB5FE4F7BDC3}" type="sibTrans" cxnId="{28567E48-798B-4402-AC08-FB557EAF78C7}">
      <dgm:prSet/>
      <dgm:spPr/>
      <dgm:t>
        <a:bodyPr/>
        <a:lstStyle/>
        <a:p>
          <a:endParaRPr lang="en-US" sz="3600"/>
        </a:p>
      </dgm:t>
    </dgm:pt>
    <dgm:pt modelId="{F383BB0E-D68D-4BEA-B061-852139957195}">
      <dgm:prSet custT="1"/>
      <dgm:spPr/>
      <dgm:t>
        <a:bodyPr/>
        <a:lstStyle/>
        <a:p>
          <a:r>
            <a:rPr lang="es-PE" sz="1400"/>
            <a:t>SQL Server Management Studio</a:t>
          </a:r>
          <a:endParaRPr lang="en-US" sz="1400"/>
        </a:p>
      </dgm:t>
    </dgm:pt>
    <dgm:pt modelId="{0540DD3E-19B1-4392-B6D6-3DB30E4357B1}" type="parTrans" cxnId="{DB2BF6DC-F82A-4582-87CC-F45DE80A39B9}">
      <dgm:prSet/>
      <dgm:spPr/>
      <dgm:t>
        <a:bodyPr/>
        <a:lstStyle/>
        <a:p>
          <a:endParaRPr lang="en-US" sz="3600"/>
        </a:p>
      </dgm:t>
    </dgm:pt>
    <dgm:pt modelId="{2F120FFB-10FC-4254-8D52-30731CC513E2}" type="sibTrans" cxnId="{DB2BF6DC-F82A-4582-87CC-F45DE80A39B9}">
      <dgm:prSet/>
      <dgm:spPr/>
      <dgm:t>
        <a:bodyPr/>
        <a:lstStyle/>
        <a:p>
          <a:endParaRPr lang="en-US" sz="3600"/>
        </a:p>
      </dgm:t>
    </dgm:pt>
    <dgm:pt modelId="{4814A2FE-A7B4-4945-840A-AB94AB561028}">
      <dgm:prSet custT="1"/>
      <dgm:spPr/>
      <dgm:t>
        <a:bodyPr/>
        <a:lstStyle/>
        <a:p>
          <a:r>
            <a:rPr lang="es-PE" sz="1400"/>
            <a:t>SQL Server Integration Service</a:t>
          </a:r>
          <a:endParaRPr lang="en-US" sz="1400"/>
        </a:p>
      </dgm:t>
    </dgm:pt>
    <dgm:pt modelId="{D8D90A23-738A-408C-A971-DFC2CD3AECEC}" type="parTrans" cxnId="{26B4E77B-F1D2-4D6D-BB28-22B5274AD7CA}">
      <dgm:prSet/>
      <dgm:spPr/>
      <dgm:t>
        <a:bodyPr/>
        <a:lstStyle/>
        <a:p>
          <a:endParaRPr lang="en-US" sz="3600"/>
        </a:p>
      </dgm:t>
    </dgm:pt>
    <dgm:pt modelId="{E0C66D4B-C073-454C-9CE4-D67A472512EF}" type="sibTrans" cxnId="{26B4E77B-F1D2-4D6D-BB28-22B5274AD7CA}">
      <dgm:prSet/>
      <dgm:spPr/>
      <dgm:t>
        <a:bodyPr/>
        <a:lstStyle/>
        <a:p>
          <a:endParaRPr lang="en-US" sz="3600"/>
        </a:p>
      </dgm:t>
    </dgm:pt>
    <dgm:pt modelId="{944B687E-ED1E-4153-BAEC-FBBC760559CE}">
      <dgm:prSet custT="1"/>
      <dgm:spPr/>
      <dgm:t>
        <a:bodyPr/>
        <a:lstStyle/>
        <a:p>
          <a:r>
            <a:rPr lang="es-PE" sz="1400"/>
            <a:t>Python</a:t>
          </a:r>
          <a:endParaRPr lang="en-US" sz="1400"/>
        </a:p>
      </dgm:t>
    </dgm:pt>
    <dgm:pt modelId="{F7C0966F-516E-41C4-A838-2D3C98D11970}" type="parTrans" cxnId="{29501A5B-5615-47B6-B01F-51F2C9D53C52}">
      <dgm:prSet/>
      <dgm:spPr/>
      <dgm:t>
        <a:bodyPr/>
        <a:lstStyle/>
        <a:p>
          <a:endParaRPr lang="en-US" sz="3600"/>
        </a:p>
      </dgm:t>
    </dgm:pt>
    <dgm:pt modelId="{CCED2D6F-2A30-4FAD-A725-26820CEF7B28}" type="sibTrans" cxnId="{29501A5B-5615-47B6-B01F-51F2C9D53C52}">
      <dgm:prSet/>
      <dgm:spPr/>
      <dgm:t>
        <a:bodyPr/>
        <a:lstStyle/>
        <a:p>
          <a:endParaRPr lang="en-US" sz="3600"/>
        </a:p>
      </dgm:t>
    </dgm:pt>
    <dgm:pt modelId="{ACDF548B-B902-4A3E-8DB4-FC767CD71787}">
      <dgm:prSet custT="1"/>
      <dgm:spPr/>
      <dgm:t>
        <a:bodyPr/>
        <a:lstStyle/>
        <a:p>
          <a:r>
            <a:rPr lang="es-PE" sz="1400"/>
            <a:t>Pentaho</a:t>
          </a:r>
          <a:endParaRPr lang="en-US" sz="1400"/>
        </a:p>
      </dgm:t>
    </dgm:pt>
    <dgm:pt modelId="{C459ABD6-3ABA-4B79-8FD4-D6F149CCBE89}" type="parTrans" cxnId="{3FF31B4B-900E-4B96-A458-3CA58870E536}">
      <dgm:prSet/>
      <dgm:spPr/>
      <dgm:t>
        <a:bodyPr/>
        <a:lstStyle/>
        <a:p>
          <a:endParaRPr lang="en-US" sz="3600"/>
        </a:p>
      </dgm:t>
    </dgm:pt>
    <dgm:pt modelId="{ED06DEA0-04B1-4030-B20A-6799D384CA2B}" type="sibTrans" cxnId="{3FF31B4B-900E-4B96-A458-3CA58870E536}">
      <dgm:prSet/>
      <dgm:spPr/>
      <dgm:t>
        <a:bodyPr/>
        <a:lstStyle/>
        <a:p>
          <a:endParaRPr lang="en-US" sz="3600"/>
        </a:p>
      </dgm:t>
    </dgm:pt>
    <dgm:pt modelId="{E2FA7563-201E-4A88-BA4A-4BE5D08FE0A1}" type="pres">
      <dgm:prSet presAssocID="{F3933FBF-340A-4DD4-A892-C26CBBB28C6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3692C9-AB1F-49A2-B7B3-C6BB998AE3E8}" type="pres">
      <dgm:prSet presAssocID="{5A216100-321B-450E-BC92-B515F8715D66}" presName="hierRoot1" presStyleCnt="0"/>
      <dgm:spPr/>
    </dgm:pt>
    <dgm:pt modelId="{B6FF125F-758E-4E97-B140-7F0BEC3CC618}" type="pres">
      <dgm:prSet presAssocID="{5A216100-321B-450E-BC92-B515F8715D66}" presName="composite" presStyleCnt="0"/>
      <dgm:spPr/>
    </dgm:pt>
    <dgm:pt modelId="{A804F0F3-B688-4769-A734-C5F30453380A}" type="pres">
      <dgm:prSet presAssocID="{5A216100-321B-450E-BC92-B515F8715D66}" presName="background" presStyleLbl="node0" presStyleIdx="0" presStyleCnt="1"/>
      <dgm:spPr/>
    </dgm:pt>
    <dgm:pt modelId="{25C45703-4048-4C3A-93E8-8FA69F6D7C99}" type="pres">
      <dgm:prSet presAssocID="{5A216100-321B-450E-BC92-B515F8715D66}" presName="text" presStyleLbl="fgAcc0" presStyleIdx="0" presStyleCnt="1" custScaleX="243099">
        <dgm:presLayoutVars>
          <dgm:chPref val="3"/>
        </dgm:presLayoutVars>
      </dgm:prSet>
      <dgm:spPr/>
    </dgm:pt>
    <dgm:pt modelId="{7B3573DF-1EAC-4E37-9941-1B4706E63AFA}" type="pres">
      <dgm:prSet presAssocID="{5A216100-321B-450E-BC92-B515F8715D66}" presName="hierChild2" presStyleCnt="0"/>
      <dgm:spPr/>
    </dgm:pt>
    <dgm:pt modelId="{E88EB137-86D6-41DD-93C6-2D183BCB17EC}" type="pres">
      <dgm:prSet presAssocID="{59089906-5518-41AC-B43D-7ABFD67B154B}" presName="Name10" presStyleLbl="parChTrans1D2" presStyleIdx="0" presStyleCnt="7"/>
      <dgm:spPr/>
    </dgm:pt>
    <dgm:pt modelId="{51E21B90-FBE0-4C45-92D6-AD9F77DC6060}" type="pres">
      <dgm:prSet presAssocID="{719BABC8-9D88-4430-B475-971780BA2034}" presName="hierRoot2" presStyleCnt="0"/>
      <dgm:spPr/>
    </dgm:pt>
    <dgm:pt modelId="{D0240ACE-CBF3-44E0-A2EF-0F91D3517733}" type="pres">
      <dgm:prSet presAssocID="{719BABC8-9D88-4430-B475-971780BA2034}" presName="composite2" presStyleCnt="0"/>
      <dgm:spPr/>
    </dgm:pt>
    <dgm:pt modelId="{CA35883F-49EA-41BA-ABAD-FD0EE34683F7}" type="pres">
      <dgm:prSet presAssocID="{719BABC8-9D88-4430-B475-971780BA2034}" presName="background2" presStyleLbl="node2" presStyleIdx="0" presStyleCnt="7"/>
      <dgm:spPr/>
    </dgm:pt>
    <dgm:pt modelId="{1DF5754D-D64A-4641-8AA0-5782BFEB2046}" type="pres">
      <dgm:prSet presAssocID="{719BABC8-9D88-4430-B475-971780BA2034}" presName="text2" presStyleLbl="fgAcc2" presStyleIdx="0" presStyleCnt="7">
        <dgm:presLayoutVars>
          <dgm:chPref val="3"/>
        </dgm:presLayoutVars>
      </dgm:prSet>
      <dgm:spPr/>
    </dgm:pt>
    <dgm:pt modelId="{3AB5FBD7-B12F-4F4B-A2C4-649C2BCBAE9C}" type="pres">
      <dgm:prSet presAssocID="{719BABC8-9D88-4430-B475-971780BA2034}" presName="hierChild3" presStyleCnt="0"/>
      <dgm:spPr/>
    </dgm:pt>
    <dgm:pt modelId="{6B6CF41C-5352-44FC-B193-FC115333F563}" type="pres">
      <dgm:prSet presAssocID="{04E2FA69-85AB-4A8A-A50E-3BD5F5799CC0}" presName="Name10" presStyleLbl="parChTrans1D2" presStyleIdx="1" presStyleCnt="7"/>
      <dgm:spPr/>
    </dgm:pt>
    <dgm:pt modelId="{2306A5AC-51CD-405F-AD48-1597F3107954}" type="pres">
      <dgm:prSet presAssocID="{0CCD4AA5-35E6-4556-8090-D95625A7D0FC}" presName="hierRoot2" presStyleCnt="0"/>
      <dgm:spPr/>
    </dgm:pt>
    <dgm:pt modelId="{F814324B-C826-4452-9A1D-A3E9D7D1C6C7}" type="pres">
      <dgm:prSet presAssocID="{0CCD4AA5-35E6-4556-8090-D95625A7D0FC}" presName="composite2" presStyleCnt="0"/>
      <dgm:spPr/>
    </dgm:pt>
    <dgm:pt modelId="{8C30E22F-51D5-4608-8920-8DE529ACA2FA}" type="pres">
      <dgm:prSet presAssocID="{0CCD4AA5-35E6-4556-8090-D95625A7D0FC}" presName="background2" presStyleLbl="node2" presStyleIdx="1" presStyleCnt="7"/>
      <dgm:spPr/>
    </dgm:pt>
    <dgm:pt modelId="{71BA6576-9DF1-48BE-851D-1336B337715C}" type="pres">
      <dgm:prSet presAssocID="{0CCD4AA5-35E6-4556-8090-D95625A7D0FC}" presName="text2" presStyleLbl="fgAcc2" presStyleIdx="1" presStyleCnt="7">
        <dgm:presLayoutVars>
          <dgm:chPref val="3"/>
        </dgm:presLayoutVars>
      </dgm:prSet>
      <dgm:spPr/>
    </dgm:pt>
    <dgm:pt modelId="{C3673179-4EF7-42B1-979B-CC6706E3C6B8}" type="pres">
      <dgm:prSet presAssocID="{0CCD4AA5-35E6-4556-8090-D95625A7D0FC}" presName="hierChild3" presStyleCnt="0"/>
      <dgm:spPr/>
    </dgm:pt>
    <dgm:pt modelId="{D0CB9BFF-46C3-4AB2-8076-8BD7DADA6FBE}" type="pres">
      <dgm:prSet presAssocID="{24143EA5-4F09-4125-BB7C-D6886DDEE0C6}" presName="Name10" presStyleLbl="parChTrans1D2" presStyleIdx="2" presStyleCnt="7"/>
      <dgm:spPr/>
    </dgm:pt>
    <dgm:pt modelId="{250C504E-E899-405C-B670-5BCAD752E8EC}" type="pres">
      <dgm:prSet presAssocID="{8E7EF072-215A-4C8F-A8E9-063FF4A0E741}" presName="hierRoot2" presStyleCnt="0"/>
      <dgm:spPr/>
    </dgm:pt>
    <dgm:pt modelId="{03081397-F93F-4F82-A996-41A5E515E06A}" type="pres">
      <dgm:prSet presAssocID="{8E7EF072-215A-4C8F-A8E9-063FF4A0E741}" presName="composite2" presStyleCnt="0"/>
      <dgm:spPr/>
    </dgm:pt>
    <dgm:pt modelId="{0928CE0E-C7A5-431E-949D-A8FF78FA923C}" type="pres">
      <dgm:prSet presAssocID="{8E7EF072-215A-4C8F-A8E9-063FF4A0E741}" presName="background2" presStyleLbl="node2" presStyleIdx="2" presStyleCnt="7"/>
      <dgm:spPr/>
    </dgm:pt>
    <dgm:pt modelId="{786FF21B-8EC5-4264-90EE-BEBE3C81CFD0}" type="pres">
      <dgm:prSet presAssocID="{8E7EF072-215A-4C8F-A8E9-063FF4A0E741}" presName="text2" presStyleLbl="fgAcc2" presStyleIdx="2" presStyleCnt="7">
        <dgm:presLayoutVars>
          <dgm:chPref val="3"/>
        </dgm:presLayoutVars>
      </dgm:prSet>
      <dgm:spPr/>
    </dgm:pt>
    <dgm:pt modelId="{4E3E2C78-E30D-49E6-9731-40D8745580B7}" type="pres">
      <dgm:prSet presAssocID="{8E7EF072-215A-4C8F-A8E9-063FF4A0E741}" presName="hierChild3" presStyleCnt="0"/>
      <dgm:spPr/>
    </dgm:pt>
    <dgm:pt modelId="{06241A7C-725E-4876-9E53-6DA800B4271E}" type="pres">
      <dgm:prSet presAssocID="{0540DD3E-19B1-4392-B6D6-3DB30E4357B1}" presName="Name10" presStyleLbl="parChTrans1D2" presStyleIdx="3" presStyleCnt="7"/>
      <dgm:spPr/>
    </dgm:pt>
    <dgm:pt modelId="{5F6122C9-8C80-448B-AE19-1F548690F1CF}" type="pres">
      <dgm:prSet presAssocID="{F383BB0E-D68D-4BEA-B061-852139957195}" presName="hierRoot2" presStyleCnt="0"/>
      <dgm:spPr/>
    </dgm:pt>
    <dgm:pt modelId="{2FFDC3AA-F49C-438A-9E82-565FF07F7659}" type="pres">
      <dgm:prSet presAssocID="{F383BB0E-D68D-4BEA-B061-852139957195}" presName="composite2" presStyleCnt="0"/>
      <dgm:spPr/>
    </dgm:pt>
    <dgm:pt modelId="{E04187F6-B11C-4417-A51B-5A5220EEAD5C}" type="pres">
      <dgm:prSet presAssocID="{F383BB0E-D68D-4BEA-B061-852139957195}" presName="background2" presStyleLbl="node2" presStyleIdx="3" presStyleCnt="7"/>
      <dgm:spPr/>
    </dgm:pt>
    <dgm:pt modelId="{DB7AE534-7897-486E-B976-CC5C92E5C322}" type="pres">
      <dgm:prSet presAssocID="{F383BB0E-D68D-4BEA-B061-852139957195}" presName="text2" presStyleLbl="fgAcc2" presStyleIdx="3" presStyleCnt="7">
        <dgm:presLayoutVars>
          <dgm:chPref val="3"/>
        </dgm:presLayoutVars>
      </dgm:prSet>
      <dgm:spPr/>
    </dgm:pt>
    <dgm:pt modelId="{85042B31-277C-4C92-8275-48B9C2701D47}" type="pres">
      <dgm:prSet presAssocID="{F383BB0E-D68D-4BEA-B061-852139957195}" presName="hierChild3" presStyleCnt="0"/>
      <dgm:spPr/>
    </dgm:pt>
    <dgm:pt modelId="{252DEB5F-E737-4A20-BBC6-44BF292A6919}" type="pres">
      <dgm:prSet presAssocID="{D8D90A23-738A-408C-A971-DFC2CD3AECEC}" presName="Name10" presStyleLbl="parChTrans1D2" presStyleIdx="4" presStyleCnt="7"/>
      <dgm:spPr/>
    </dgm:pt>
    <dgm:pt modelId="{A5DFED08-8534-412B-9EC8-76BD9652693C}" type="pres">
      <dgm:prSet presAssocID="{4814A2FE-A7B4-4945-840A-AB94AB561028}" presName="hierRoot2" presStyleCnt="0"/>
      <dgm:spPr/>
    </dgm:pt>
    <dgm:pt modelId="{87B71F23-46B0-4E5F-9E68-BEFFCF11D5BB}" type="pres">
      <dgm:prSet presAssocID="{4814A2FE-A7B4-4945-840A-AB94AB561028}" presName="composite2" presStyleCnt="0"/>
      <dgm:spPr/>
    </dgm:pt>
    <dgm:pt modelId="{425FEE2E-F672-4C61-9298-B3E33915A4E5}" type="pres">
      <dgm:prSet presAssocID="{4814A2FE-A7B4-4945-840A-AB94AB561028}" presName="background2" presStyleLbl="node2" presStyleIdx="4" presStyleCnt="7"/>
      <dgm:spPr/>
    </dgm:pt>
    <dgm:pt modelId="{43FB5E91-C903-4862-A408-E7CA2CE3ECB3}" type="pres">
      <dgm:prSet presAssocID="{4814A2FE-A7B4-4945-840A-AB94AB561028}" presName="text2" presStyleLbl="fgAcc2" presStyleIdx="4" presStyleCnt="7">
        <dgm:presLayoutVars>
          <dgm:chPref val="3"/>
        </dgm:presLayoutVars>
      </dgm:prSet>
      <dgm:spPr/>
    </dgm:pt>
    <dgm:pt modelId="{2F41C11B-C071-4D5E-8358-E284C9576F13}" type="pres">
      <dgm:prSet presAssocID="{4814A2FE-A7B4-4945-840A-AB94AB561028}" presName="hierChild3" presStyleCnt="0"/>
      <dgm:spPr/>
    </dgm:pt>
    <dgm:pt modelId="{0552D1B7-B46A-488B-A7EA-A961FFF068C0}" type="pres">
      <dgm:prSet presAssocID="{F7C0966F-516E-41C4-A838-2D3C98D11970}" presName="Name10" presStyleLbl="parChTrans1D2" presStyleIdx="5" presStyleCnt="7"/>
      <dgm:spPr/>
    </dgm:pt>
    <dgm:pt modelId="{00E4A060-E6D0-4098-A56E-11879F2E80C9}" type="pres">
      <dgm:prSet presAssocID="{944B687E-ED1E-4153-BAEC-FBBC760559CE}" presName="hierRoot2" presStyleCnt="0"/>
      <dgm:spPr/>
    </dgm:pt>
    <dgm:pt modelId="{F784C2B7-2432-4E18-9E62-3A84F90E53CF}" type="pres">
      <dgm:prSet presAssocID="{944B687E-ED1E-4153-BAEC-FBBC760559CE}" presName="composite2" presStyleCnt="0"/>
      <dgm:spPr/>
    </dgm:pt>
    <dgm:pt modelId="{69F3AE95-C8C5-46BC-BB55-6343651438C9}" type="pres">
      <dgm:prSet presAssocID="{944B687E-ED1E-4153-BAEC-FBBC760559CE}" presName="background2" presStyleLbl="node2" presStyleIdx="5" presStyleCnt="7"/>
      <dgm:spPr/>
    </dgm:pt>
    <dgm:pt modelId="{308E86FD-40D9-447A-9B35-E1916810DC4A}" type="pres">
      <dgm:prSet presAssocID="{944B687E-ED1E-4153-BAEC-FBBC760559CE}" presName="text2" presStyleLbl="fgAcc2" presStyleIdx="5" presStyleCnt="7">
        <dgm:presLayoutVars>
          <dgm:chPref val="3"/>
        </dgm:presLayoutVars>
      </dgm:prSet>
      <dgm:spPr/>
    </dgm:pt>
    <dgm:pt modelId="{C450DAD1-6CD8-4EF6-9016-3442661E8369}" type="pres">
      <dgm:prSet presAssocID="{944B687E-ED1E-4153-BAEC-FBBC760559CE}" presName="hierChild3" presStyleCnt="0"/>
      <dgm:spPr/>
    </dgm:pt>
    <dgm:pt modelId="{3723349F-F122-4AA8-AE9A-DF0BE79E28ED}" type="pres">
      <dgm:prSet presAssocID="{C459ABD6-3ABA-4B79-8FD4-D6F149CCBE89}" presName="Name10" presStyleLbl="parChTrans1D2" presStyleIdx="6" presStyleCnt="7"/>
      <dgm:spPr/>
    </dgm:pt>
    <dgm:pt modelId="{AF0E5077-434A-4410-95ED-F4165B5D0AF3}" type="pres">
      <dgm:prSet presAssocID="{ACDF548B-B902-4A3E-8DB4-FC767CD71787}" presName="hierRoot2" presStyleCnt="0"/>
      <dgm:spPr/>
    </dgm:pt>
    <dgm:pt modelId="{575DBD47-CE3C-4C3C-B783-601D66A38078}" type="pres">
      <dgm:prSet presAssocID="{ACDF548B-B902-4A3E-8DB4-FC767CD71787}" presName="composite2" presStyleCnt="0"/>
      <dgm:spPr/>
    </dgm:pt>
    <dgm:pt modelId="{9678FD14-5028-4A0A-AF31-78936E5DE564}" type="pres">
      <dgm:prSet presAssocID="{ACDF548B-B902-4A3E-8DB4-FC767CD71787}" presName="background2" presStyleLbl="node2" presStyleIdx="6" presStyleCnt="7"/>
      <dgm:spPr/>
    </dgm:pt>
    <dgm:pt modelId="{B0D05B6F-7211-4256-8B47-D151CA85F7D5}" type="pres">
      <dgm:prSet presAssocID="{ACDF548B-B902-4A3E-8DB4-FC767CD71787}" presName="text2" presStyleLbl="fgAcc2" presStyleIdx="6" presStyleCnt="7">
        <dgm:presLayoutVars>
          <dgm:chPref val="3"/>
        </dgm:presLayoutVars>
      </dgm:prSet>
      <dgm:spPr/>
    </dgm:pt>
    <dgm:pt modelId="{E98936B1-45F9-461F-8AFD-058385D413F7}" type="pres">
      <dgm:prSet presAssocID="{ACDF548B-B902-4A3E-8DB4-FC767CD71787}" presName="hierChild3" presStyleCnt="0"/>
      <dgm:spPr/>
    </dgm:pt>
  </dgm:ptLst>
  <dgm:cxnLst>
    <dgm:cxn modelId="{725DC60F-2CDF-42D0-A494-860BDE0AE6B7}" type="presOf" srcId="{0540DD3E-19B1-4392-B6D6-3DB30E4357B1}" destId="{06241A7C-725E-4876-9E53-6DA800B4271E}" srcOrd="0" destOrd="0" presId="urn:microsoft.com/office/officeart/2005/8/layout/hierarchy1"/>
    <dgm:cxn modelId="{BC814D12-AFAB-4A65-B688-86D46D60E035}" type="presOf" srcId="{0CCD4AA5-35E6-4556-8090-D95625A7D0FC}" destId="{71BA6576-9DF1-48BE-851D-1336B337715C}" srcOrd="0" destOrd="0" presId="urn:microsoft.com/office/officeart/2005/8/layout/hierarchy1"/>
    <dgm:cxn modelId="{8BEF2D30-F368-4F70-98D2-0E11E114D2D6}" type="presOf" srcId="{24143EA5-4F09-4125-BB7C-D6886DDEE0C6}" destId="{D0CB9BFF-46C3-4AB2-8076-8BD7DADA6FBE}" srcOrd="0" destOrd="0" presId="urn:microsoft.com/office/officeart/2005/8/layout/hierarchy1"/>
    <dgm:cxn modelId="{FE174032-CCC7-4C92-BCBD-44FD66D3FF93}" type="presOf" srcId="{8E7EF072-215A-4C8F-A8E9-063FF4A0E741}" destId="{786FF21B-8EC5-4264-90EE-BEBE3C81CFD0}" srcOrd="0" destOrd="0" presId="urn:microsoft.com/office/officeart/2005/8/layout/hierarchy1"/>
    <dgm:cxn modelId="{3AA4F83D-9C72-41C9-B0E7-09385CB3F287}" type="presOf" srcId="{59089906-5518-41AC-B43D-7ABFD67B154B}" destId="{E88EB137-86D6-41DD-93C6-2D183BCB17EC}" srcOrd="0" destOrd="0" presId="urn:microsoft.com/office/officeart/2005/8/layout/hierarchy1"/>
    <dgm:cxn modelId="{29501A5B-5615-47B6-B01F-51F2C9D53C52}" srcId="{5A216100-321B-450E-BC92-B515F8715D66}" destId="{944B687E-ED1E-4153-BAEC-FBBC760559CE}" srcOrd="5" destOrd="0" parTransId="{F7C0966F-516E-41C4-A838-2D3C98D11970}" sibTransId="{CCED2D6F-2A30-4FAD-A725-26820CEF7B28}"/>
    <dgm:cxn modelId="{6A89AF5F-68B9-4061-97D5-86236570F29D}" type="presOf" srcId="{04E2FA69-85AB-4A8A-A50E-3BD5F5799CC0}" destId="{6B6CF41C-5352-44FC-B193-FC115333F563}" srcOrd="0" destOrd="0" presId="urn:microsoft.com/office/officeart/2005/8/layout/hierarchy1"/>
    <dgm:cxn modelId="{9E56C144-E230-420C-8418-FCEBFA6F5F69}" type="presOf" srcId="{D8D90A23-738A-408C-A971-DFC2CD3AECEC}" destId="{252DEB5F-E737-4A20-BBC6-44BF292A6919}" srcOrd="0" destOrd="0" presId="urn:microsoft.com/office/officeart/2005/8/layout/hierarchy1"/>
    <dgm:cxn modelId="{28567E48-798B-4402-AC08-FB557EAF78C7}" srcId="{5A216100-321B-450E-BC92-B515F8715D66}" destId="{8E7EF072-215A-4C8F-A8E9-063FF4A0E741}" srcOrd="2" destOrd="0" parTransId="{24143EA5-4F09-4125-BB7C-D6886DDEE0C6}" sibTransId="{3C40428F-3338-4B1F-80CE-EB5FE4F7BDC3}"/>
    <dgm:cxn modelId="{3FF31B4B-900E-4B96-A458-3CA58870E536}" srcId="{5A216100-321B-450E-BC92-B515F8715D66}" destId="{ACDF548B-B902-4A3E-8DB4-FC767CD71787}" srcOrd="6" destOrd="0" parTransId="{C459ABD6-3ABA-4B79-8FD4-D6F149CCBE89}" sibTransId="{ED06DEA0-04B1-4030-B20A-6799D384CA2B}"/>
    <dgm:cxn modelId="{08942659-41D6-469A-AF8B-C191B0028383}" type="presOf" srcId="{4814A2FE-A7B4-4945-840A-AB94AB561028}" destId="{43FB5E91-C903-4862-A408-E7CA2CE3ECB3}" srcOrd="0" destOrd="0" presId="urn:microsoft.com/office/officeart/2005/8/layout/hierarchy1"/>
    <dgm:cxn modelId="{26B4E77B-F1D2-4D6D-BB28-22B5274AD7CA}" srcId="{5A216100-321B-450E-BC92-B515F8715D66}" destId="{4814A2FE-A7B4-4945-840A-AB94AB561028}" srcOrd="4" destOrd="0" parTransId="{D8D90A23-738A-408C-A971-DFC2CD3AECEC}" sibTransId="{E0C66D4B-C073-454C-9CE4-D67A472512EF}"/>
    <dgm:cxn modelId="{479BBA9D-10DD-471E-A937-78F8FD32A216}" type="presOf" srcId="{C459ABD6-3ABA-4B79-8FD4-D6F149CCBE89}" destId="{3723349F-F122-4AA8-AE9A-DF0BE79E28ED}" srcOrd="0" destOrd="0" presId="urn:microsoft.com/office/officeart/2005/8/layout/hierarchy1"/>
    <dgm:cxn modelId="{03905A9E-203F-4E6A-A79E-05CF81DF9320}" type="presOf" srcId="{F3933FBF-340A-4DD4-A892-C26CBBB28C6D}" destId="{E2FA7563-201E-4A88-BA4A-4BE5D08FE0A1}" srcOrd="0" destOrd="0" presId="urn:microsoft.com/office/officeart/2005/8/layout/hierarchy1"/>
    <dgm:cxn modelId="{97CA37A7-60BD-4092-8F63-6120FE4B0BAB}" type="presOf" srcId="{719BABC8-9D88-4430-B475-971780BA2034}" destId="{1DF5754D-D64A-4641-8AA0-5782BFEB2046}" srcOrd="0" destOrd="0" presId="urn:microsoft.com/office/officeart/2005/8/layout/hierarchy1"/>
    <dgm:cxn modelId="{5A17E3AB-5B5E-401B-8B34-2B89F8CBAC57}" srcId="{5A216100-321B-450E-BC92-B515F8715D66}" destId="{0CCD4AA5-35E6-4556-8090-D95625A7D0FC}" srcOrd="1" destOrd="0" parTransId="{04E2FA69-85AB-4A8A-A50E-3BD5F5799CC0}" sibTransId="{03C1D2BF-EA97-4EE7-ADF6-E785A37DD7AA}"/>
    <dgm:cxn modelId="{FC123BCA-B370-4DB3-8080-E37E50F9747E}" type="presOf" srcId="{944B687E-ED1E-4153-BAEC-FBBC760559CE}" destId="{308E86FD-40D9-447A-9B35-E1916810DC4A}" srcOrd="0" destOrd="0" presId="urn:microsoft.com/office/officeart/2005/8/layout/hierarchy1"/>
    <dgm:cxn modelId="{EB2ADDD1-B5B1-40DD-AD16-F68C86A96F23}" type="presOf" srcId="{F383BB0E-D68D-4BEA-B061-852139957195}" destId="{DB7AE534-7897-486E-B976-CC5C92E5C322}" srcOrd="0" destOrd="0" presId="urn:microsoft.com/office/officeart/2005/8/layout/hierarchy1"/>
    <dgm:cxn modelId="{51DEB1D7-863D-4001-999C-4FA2E3C80DF8}" type="presOf" srcId="{ACDF548B-B902-4A3E-8DB4-FC767CD71787}" destId="{B0D05B6F-7211-4256-8B47-D151CA85F7D5}" srcOrd="0" destOrd="0" presId="urn:microsoft.com/office/officeart/2005/8/layout/hierarchy1"/>
    <dgm:cxn modelId="{DB2BF6DC-F82A-4582-87CC-F45DE80A39B9}" srcId="{5A216100-321B-450E-BC92-B515F8715D66}" destId="{F383BB0E-D68D-4BEA-B061-852139957195}" srcOrd="3" destOrd="0" parTransId="{0540DD3E-19B1-4392-B6D6-3DB30E4357B1}" sibTransId="{2F120FFB-10FC-4254-8D52-30731CC513E2}"/>
    <dgm:cxn modelId="{3F8DFDE4-D3A4-44DB-BA5E-C0C41ED6B121}" type="presOf" srcId="{F7C0966F-516E-41C4-A838-2D3C98D11970}" destId="{0552D1B7-B46A-488B-A7EA-A961FFF068C0}" srcOrd="0" destOrd="0" presId="urn:microsoft.com/office/officeart/2005/8/layout/hierarchy1"/>
    <dgm:cxn modelId="{54F837E5-3BE7-4731-ABCC-2DB5203D1A2B}" srcId="{5A216100-321B-450E-BC92-B515F8715D66}" destId="{719BABC8-9D88-4430-B475-971780BA2034}" srcOrd="0" destOrd="0" parTransId="{59089906-5518-41AC-B43D-7ABFD67B154B}" sibTransId="{8FF10389-C481-4D79-B37A-6ABBB54D1653}"/>
    <dgm:cxn modelId="{D529E1EA-77D4-4FE5-8614-F8439F269945}" srcId="{F3933FBF-340A-4DD4-A892-C26CBBB28C6D}" destId="{5A216100-321B-450E-BC92-B515F8715D66}" srcOrd="0" destOrd="0" parTransId="{1DEDB4A4-C19B-4AA7-A569-2D28A9FD3799}" sibTransId="{F09F200F-D16B-483E-B958-DA74C97B0D4E}"/>
    <dgm:cxn modelId="{7E0F95FB-26D4-4A1A-B8A6-F2C9A613BF95}" type="presOf" srcId="{5A216100-321B-450E-BC92-B515F8715D66}" destId="{25C45703-4048-4C3A-93E8-8FA69F6D7C99}" srcOrd="0" destOrd="0" presId="urn:microsoft.com/office/officeart/2005/8/layout/hierarchy1"/>
    <dgm:cxn modelId="{2FD0FB99-6BF9-4777-AE36-066E9AC94DBD}" type="presParOf" srcId="{E2FA7563-201E-4A88-BA4A-4BE5D08FE0A1}" destId="{2B3692C9-AB1F-49A2-B7B3-C6BB998AE3E8}" srcOrd="0" destOrd="0" presId="urn:microsoft.com/office/officeart/2005/8/layout/hierarchy1"/>
    <dgm:cxn modelId="{639A4FBE-4163-445F-BE9F-C279C6E451D0}" type="presParOf" srcId="{2B3692C9-AB1F-49A2-B7B3-C6BB998AE3E8}" destId="{B6FF125F-758E-4E97-B140-7F0BEC3CC618}" srcOrd="0" destOrd="0" presId="urn:microsoft.com/office/officeart/2005/8/layout/hierarchy1"/>
    <dgm:cxn modelId="{F98A284B-8178-49ED-B06E-7083CF258190}" type="presParOf" srcId="{B6FF125F-758E-4E97-B140-7F0BEC3CC618}" destId="{A804F0F3-B688-4769-A734-C5F30453380A}" srcOrd="0" destOrd="0" presId="urn:microsoft.com/office/officeart/2005/8/layout/hierarchy1"/>
    <dgm:cxn modelId="{89C436FD-11DC-4897-93C9-4947E08AA782}" type="presParOf" srcId="{B6FF125F-758E-4E97-B140-7F0BEC3CC618}" destId="{25C45703-4048-4C3A-93E8-8FA69F6D7C99}" srcOrd="1" destOrd="0" presId="urn:microsoft.com/office/officeart/2005/8/layout/hierarchy1"/>
    <dgm:cxn modelId="{D6260465-A028-4685-A491-D6011A5115BA}" type="presParOf" srcId="{2B3692C9-AB1F-49A2-B7B3-C6BB998AE3E8}" destId="{7B3573DF-1EAC-4E37-9941-1B4706E63AFA}" srcOrd="1" destOrd="0" presId="urn:microsoft.com/office/officeart/2005/8/layout/hierarchy1"/>
    <dgm:cxn modelId="{64DC6D8D-E4EE-4977-826B-F90E546D853E}" type="presParOf" srcId="{7B3573DF-1EAC-4E37-9941-1B4706E63AFA}" destId="{E88EB137-86D6-41DD-93C6-2D183BCB17EC}" srcOrd="0" destOrd="0" presId="urn:microsoft.com/office/officeart/2005/8/layout/hierarchy1"/>
    <dgm:cxn modelId="{23417BBB-15DE-46B6-BAC1-D939150369FC}" type="presParOf" srcId="{7B3573DF-1EAC-4E37-9941-1B4706E63AFA}" destId="{51E21B90-FBE0-4C45-92D6-AD9F77DC6060}" srcOrd="1" destOrd="0" presId="urn:microsoft.com/office/officeart/2005/8/layout/hierarchy1"/>
    <dgm:cxn modelId="{A7E78FEB-98E5-44DA-87C8-002FFF6752FA}" type="presParOf" srcId="{51E21B90-FBE0-4C45-92D6-AD9F77DC6060}" destId="{D0240ACE-CBF3-44E0-A2EF-0F91D3517733}" srcOrd="0" destOrd="0" presId="urn:microsoft.com/office/officeart/2005/8/layout/hierarchy1"/>
    <dgm:cxn modelId="{C5314BB9-9531-42C2-B42B-AA68EC6009F3}" type="presParOf" srcId="{D0240ACE-CBF3-44E0-A2EF-0F91D3517733}" destId="{CA35883F-49EA-41BA-ABAD-FD0EE34683F7}" srcOrd="0" destOrd="0" presId="urn:microsoft.com/office/officeart/2005/8/layout/hierarchy1"/>
    <dgm:cxn modelId="{89E09719-7E70-480D-85DB-980210629C7E}" type="presParOf" srcId="{D0240ACE-CBF3-44E0-A2EF-0F91D3517733}" destId="{1DF5754D-D64A-4641-8AA0-5782BFEB2046}" srcOrd="1" destOrd="0" presId="urn:microsoft.com/office/officeart/2005/8/layout/hierarchy1"/>
    <dgm:cxn modelId="{E1881530-8D8D-44CC-95AD-8C83F0A55DF4}" type="presParOf" srcId="{51E21B90-FBE0-4C45-92D6-AD9F77DC6060}" destId="{3AB5FBD7-B12F-4F4B-A2C4-649C2BCBAE9C}" srcOrd="1" destOrd="0" presId="urn:microsoft.com/office/officeart/2005/8/layout/hierarchy1"/>
    <dgm:cxn modelId="{8BEB498F-B824-4732-A6DE-FDDCE35A99CB}" type="presParOf" srcId="{7B3573DF-1EAC-4E37-9941-1B4706E63AFA}" destId="{6B6CF41C-5352-44FC-B193-FC115333F563}" srcOrd="2" destOrd="0" presId="urn:microsoft.com/office/officeart/2005/8/layout/hierarchy1"/>
    <dgm:cxn modelId="{2E8F6802-3E51-4CE8-9963-07B332B962A4}" type="presParOf" srcId="{7B3573DF-1EAC-4E37-9941-1B4706E63AFA}" destId="{2306A5AC-51CD-405F-AD48-1597F3107954}" srcOrd="3" destOrd="0" presId="urn:microsoft.com/office/officeart/2005/8/layout/hierarchy1"/>
    <dgm:cxn modelId="{124D65D5-B6DC-4F7E-8DB1-3C11DEA7E346}" type="presParOf" srcId="{2306A5AC-51CD-405F-AD48-1597F3107954}" destId="{F814324B-C826-4452-9A1D-A3E9D7D1C6C7}" srcOrd="0" destOrd="0" presId="urn:microsoft.com/office/officeart/2005/8/layout/hierarchy1"/>
    <dgm:cxn modelId="{B21C18A3-0960-4739-9523-C3B0D2231D1D}" type="presParOf" srcId="{F814324B-C826-4452-9A1D-A3E9D7D1C6C7}" destId="{8C30E22F-51D5-4608-8920-8DE529ACA2FA}" srcOrd="0" destOrd="0" presId="urn:microsoft.com/office/officeart/2005/8/layout/hierarchy1"/>
    <dgm:cxn modelId="{E0835330-EBAD-4014-9477-E39F248767B2}" type="presParOf" srcId="{F814324B-C826-4452-9A1D-A3E9D7D1C6C7}" destId="{71BA6576-9DF1-48BE-851D-1336B337715C}" srcOrd="1" destOrd="0" presId="urn:microsoft.com/office/officeart/2005/8/layout/hierarchy1"/>
    <dgm:cxn modelId="{0DE86C52-2BE7-4F41-8735-78D14ECC9841}" type="presParOf" srcId="{2306A5AC-51CD-405F-AD48-1597F3107954}" destId="{C3673179-4EF7-42B1-979B-CC6706E3C6B8}" srcOrd="1" destOrd="0" presId="urn:microsoft.com/office/officeart/2005/8/layout/hierarchy1"/>
    <dgm:cxn modelId="{BD2B0BC2-B85F-47D9-A83E-E4F4417CD297}" type="presParOf" srcId="{7B3573DF-1EAC-4E37-9941-1B4706E63AFA}" destId="{D0CB9BFF-46C3-4AB2-8076-8BD7DADA6FBE}" srcOrd="4" destOrd="0" presId="urn:microsoft.com/office/officeart/2005/8/layout/hierarchy1"/>
    <dgm:cxn modelId="{919AA2CF-6780-4CB8-BB09-B503BDCF7C6B}" type="presParOf" srcId="{7B3573DF-1EAC-4E37-9941-1B4706E63AFA}" destId="{250C504E-E899-405C-B670-5BCAD752E8EC}" srcOrd="5" destOrd="0" presId="urn:microsoft.com/office/officeart/2005/8/layout/hierarchy1"/>
    <dgm:cxn modelId="{55731EA7-5C4D-4A48-9E00-1D10E6ADDCE6}" type="presParOf" srcId="{250C504E-E899-405C-B670-5BCAD752E8EC}" destId="{03081397-F93F-4F82-A996-41A5E515E06A}" srcOrd="0" destOrd="0" presId="urn:microsoft.com/office/officeart/2005/8/layout/hierarchy1"/>
    <dgm:cxn modelId="{B92CE1AE-5DFF-4D33-8A22-B4CAF34E820D}" type="presParOf" srcId="{03081397-F93F-4F82-A996-41A5E515E06A}" destId="{0928CE0E-C7A5-431E-949D-A8FF78FA923C}" srcOrd="0" destOrd="0" presId="urn:microsoft.com/office/officeart/2005/8/layout/hierarchy1"/>
    <dgm:cxn modelId="{CD0A0617-EC04-4CA9-AB19-A18C59EA2AA1}" type="presParOf" srcId="{03081397-F93F-4F82-A996-41A5E515E06A}" destId="{786FF21B-8EC5-4264-90EE-BEBE3C81CFD0}" srcOrd="1" destOrd="0" presId="urn:microsoft.com/office/officeart/2005/8/layout/hierarchy1"/>
    <dgm:cxn modelId="{4A0DA2CC-5095-44C1-8A64-1224B74EAA1E}" type="presParOf" srcId="{250C504E-E899-405C-B670-5BCAD752E8EC}" destId="{4E3E2C78-E30D-49E6-9731-40D8745580B7}" srcOrd="1" destOrd="0" presId="urn:microsoft.com/office/officeart/2005/8/layout/hierarchy1"/>
    <dgm:cxn modelId="{92986565-2FBB-43CE-BE0D-9E1CCFA43E8B}" type="presParOf" srcId="{7B3573DF-1EAC-4E37-9941-1B4706E63AFA}" destId="{06241A7C-725E-4876-9E53-6DA800B4271E}" srcOrd="6" destOrd="0" presId="urn:microsoft.com/office/officeart/2005/8/layout/hierarchy1"/>
    <dgm:cxn modelId="{1DE6A8A7-C13B-4566-B1B0-5DB0FBE5B66E}" type="presParOf" srcId="{7B3573DF-1EAC-4E37-9941-1B4706E63AFA}" destId="{5F6122C9-8C80-448B-AE19-1F548690F1CF}" srcOrd="7" destOrd="0" presId="urn:microsoft.com/office/officeart/2005/8/layout/hierarchy1"/>
    <dgm:cxn modelId="{F2BAE69E-D4E6-43F3-A012-CB7C0E796428}" type="presParOf" srcId="{5F6122C9-8C80-448B-AE19-1F548690F1CF}" destId="{2FFDC3AA-F49C-438A-9E82-565FF07F7659}" srcOrd="0" destOrd="0" presId="urn:microsoft.com/office/officeart/2005/8/layout/hierarchy1"/>
    <dgm:cxn modelId="{15853BF3-7E51-4F28-BCA9-68D5FD16DECE}" type="presParOf" srcId="{2FFDC3AA-F49C-438A-9E82-565FF07F7659}" destId="{E04187F6-B11C-4417-A51B-5A5220EEAD5C}" srcOrd="0" destOrd="0" presId="urn:microsoft.com/office/officeart/2005/8/layout/hierarchy1"/>
    <dgm:cxn modelId="{24D08CD9-CA2B-4B2B-B119-4CFB5049EC29}" type="presParOf" srcId="{2FFDC3AA-F49C-438A-9E82-565FF07F7659}" destId="{DB7AE534-7897-486E-B976-CC5C92E5C322}" srcOrd="1" destOrd="0" presId="urn:microsoft.com/office/officeart/2005/8/layout/hierarchy1"/>
    <dgm:cxn modelId="{7DB2F665-3067-4E63-B950-1C6DF335811D}" type="presParOf" srcId="{5F6122C9-8C80-448B-AE19-1F548690F1CF}" destId="{85042B31-277C-4C92-8275-48B9C2701D47}" srcOrd="1" destOrd="0" presId="urn:microsoft.com/office/officeart/2005/8/layout/hierarchy1"/>
    <dgm:cxn modelId="{09A63D97-226E-410D-99FB-850028975ECF}" type="presParOf" srcId="{7B3573DF-1EAC-4E37-9941-1B4706E63AFA}" destId="{252DEB5F-E737-4A20-BBC6-44BF292A6919}" srcOrd="8" destOrd="0" presId="urn:microsoft.com/office/officeart/2005/8/layout/hierarchy1"/>
    <dgm:cxn modelId="{4FF695C9-E722-437F-A687-58CBADE1F264}" type="presParOf" srcId="{7B3573DF-1EAC-4E37-9941-1B4706E63AFA}" destId="{A5DFED08-8534-412B-9EC8-76BD9652693C}" srcOrd="9" destOrd="0" presId="urn:microsoft.com/office/officeart/2005/8/layout/hierarchy1"/>
    <dgm:cxn modelId="{86D6FAD0-24E7-4440-9B34-DA86FFA9537E}" type="presParOf" srcId="{A5DFED08-8534-412B-9EC8-76BD9652693C}" destId="{87B71F23-46B0-4E5F-9E68-BEFFCF11D5BB}" srcOrd="0" destOrd="0" presId="urn:microsoft.com/office/officeart/2005/8/layout/hierarchy1"/>
    <dgm:cxn modelId="{C5E24C66-0794-4459-964B-5B49A5EDFBC4}" type="presParOf" srcId="{87B71F23-46B0-4E5F-9E68-BEFFCF11D5BB}" destId="{425FEE2E-F672-4C61-9298-B3E33915A4E5}" srcOrd="0" destOrd="0" presId="urn:microsoft.com/office/officeart/2005/8/layout/hierarchy1"/>
    <dgm:cxn modelId="{13F5B3CC-9DBA-4D0D-A3F2-F1F8236B71A1}" type="presParOf" srcId="{87B71F23-46B0-4E5F-9E68-BEFFCF11D5BB}" destId="{43FB5E91-C903-4862-A408-E7CA2CE3ECB3}" srcOrd="1" destOrd="0" presId="urn:microsoft.com/office/officeart/2005/8/layout/hierarchy1"/>
    <dgm:cxn modelId="{1C5EA6F8-CE52-44BC-B510-B1AAB3B3D79B}" type="presParOf" srcId="{A5DFED08-8534-412B-9EC8-76BD9652693C}" destId="{2F41C11B-C071-4D5E-8358-E284C9576F13}" srcOrd="1" destOrd="0" presId="urn:microsoft.com/office/officeart/2005/8/layout/hierarchy1"/>
    <dgm:cxn modelId="{566A4A0F-7399-4302-BB1A-33820EA7735E}" type="presParOf" srcId="{7B3573DF-1EAC-4E37-9941-1B4706E63AFA}" destId="{0552D1B7-B46A-488B-A7EA-A961FFF068C0}" srcOrd="10" destOrd="0" presId="urn:microsoft.com/office/officeart/2005/8/layout/hierarchy1"/>
    <dgm:cxn modelId="{1A254E23-DA31-4723-A6F4-859F924808C2}" type="presParOf" srcId="{7B3573DF-1EAC-4E37-9941-1B4706E63AFA}" destId="{00E4A060-E6D0-4098-A56E-11879F2E80C9}" srcOrd="11" destOrd="0" presId="urn:microsoft.com/office/officeart/2005/8/layout/hierarchy1"/>
    <dgm:cxn modelId="{38361767-16AA-44F0-B29B-D6D0C6D2B69E}" type="presParOf" srcId="{00E4A060-E6D0-4098-A56E-11879F2E80C9}" destId="{F784C2B7-2432-4E18-9E62-3A84F90E53CF}" srcOrd="0" destOrd="0" presId="urn:microsoft.com/office/officeart/2005/8/layout/hierarchy1"/>
    <dgm:cxn modelId="{D61D47B5-4A97-4737-AA80-D74B810F9FA3}" type="presParOf" srcId="{F784C2B7-2432-4E18-9E62-3A84F90E53CF}" destId="{69F3AE95-C8C5-46BC-BB55-6343651438C9}" srcOrd="0" destOrd="0" presId="urn:microsoft.com/office/officeart/2005/8/layout/hierarchy1"/>
    <dgm:cxn modelId="{5F177003-9FB3-4C48-8B41-D8EE9D45884F}" type="presParOf" srcId="{F784C2B7-2432-4E18-9E62-3A84F90E53CF}" destId="{308E86FD-40D9-447A-9B35-E1916810DC4A}" srcOrd="1" destOrd="0" presId="urn:microsoft.com/office/officeart/2005/8/layout/hierarchy1"/>
    <dgm:cxn modelId="{C3B9C26E-E3BF-4F20-B942-04698D83BA9F}" type="presParOf" srcId="{00E4A060-E6D0-4098-A56E-11879F2E80C9}" destId="{C450DAD1-6CD8-4EF6-9016-3442661E8369}" srcOrd="1" destOrd="0" presId="urn:microsoft.com/office/officeart/2005/8/layout/hierarchy1"/>
    <dgm:cxn modelId="{5FD42886-FD9D-4ECB-BEA3-DAC7D5AABE45}" type="presParOf" srcId="{7B3573DF-1EAC-4E37-9941-1B4706E63AFA}" destId="{3723349F-F122-4AA8-AE9A-DF0BE79E28ED}" srcOrd="12" destOrd="0" presId="urn:microsoft.com/office/officeart/2005/8/layout/hierarchy1"/>
    <dgm:cxn modelId="{EAA293C3-132B-4EC0-9B5B-187D553CEDF0}" type="presParOf" srcId="{7B3573DF-1EAC-4E37-9941-1B4706E63AFA}" destId="{AF0E5077-434A-4410-95ED-F4165B5D0AF3}" srcOrd="13" destOrd="0" presId="urn:microsoft.com/office/officeart/2005/8/layout/hierarchy1"/>
    <dgm:cxn modelId="{6A622C46-9830-4BAC-841C-3E7951FA176C}" type="presParOf" srcId="{AF0E5077-434A-4410-95ED-F4165B5D0AF3}" destId="{575DBD47-CE3C-4C3C-B783-601D66A38078}" srcOrd="0" destOrd="0" presId="urn:microsoft.com/office/officeart/2005/8/layout/hierarchy1"/>
    <dgm:cxn modelId="{E98FECBE-D3A8-42F8-827C-A921C677B717}" type="presParOf" srcId="{575DBD47-CE3C-4C3C-B783-601D66A38078}" destId="{9678FD14-5028-4A0A-AF31-78936E5DE564}" srcOrd="0" destOrd="0" presId="urn:microsoft.com/office/officeart/2005/8/layout/hierarchy1"/>
    <dgm:cxn modelId="{C0ACB4F2-C297-4BA4-975D-363B1AC49705}" type="presParOf" srcId="{575DBD47-CE3C-4C3C-B783-601D66A38078}" destId="{B0D05B6F-7211-4256-8B47-D151CA85F7D5}" srcOrd="1" destOrd="0" presId="urn:microsoft.com/office/officeart/2005/8/layout/hierarchy1"/>
    <dgm:cxn modelId="{65009B82-F425-447E-B52C-95A4B08F8D29}" type="presParOf" srcId="{AF0E5077-434A-4410-95ED-F4165B5D0AF3}" destId="{E98936B1-45F9-461F-8AFD-058385D413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A4320-3BF2-4763-949C-55F554575770}">
      <dsp:nvSpPr>
        <dsp:cNvPr id="0" name=""/>
        <dsp:cNvSpPr/>
      </dsp:nvSpPr>
      <dsp:spPr>
        <a:xfrm>
          <a:off x="5539274" y="1518274"/>
          <a:ext cx="4595440" cy="546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2596"/>
              </a:lnTo>
              <a:lnTo>
                <a:pt x="4595440" y="372596"/>
              </a:lnTo>
              <a:lnTo>
                <a:pt x="4595440" y="5467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13F59C-6E11-43D0-A534-0077875D1E7D}">
      <dsp:nvSpPr>
        <dsp:cNvPr id="0" name=""/>
        <dsp:cNvSpPr/>
      </dsp:nvSpPr>
      <dsp:spPr>
        <a:xfrm>
          <a:off x="5539274" y="1518274"/>
          <a:ext cx="2297720" cy="546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2596"/>
              </a:lnTo>
              <a:lnTo>
                <a:pt x="2297720" y="372596"/>
              </a:lnTo>
              <a:lnTo>
                <a:pt x="2297720" y="5467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37154-0FCF-46EA-9D7E-F45711D24891}">
      <dsp:nvSpPr>
        <dsp:cNvPr id="0" name=""/>
        <dsp:cNvSpPr/>
      </dsp:nvSpPr>
      <dsp:spPr>
        <a:xfrm>
          <a:off x="5493554" y="1518274"/>
          <a:ext cx="91440" cy="5467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67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D2E32D-FCD9-4E4A-B812-36A271BFD72E}">
      <dsp:nvSpPr>
        <dsp:cNvPr id="0" name=""/>
        <dsp:cNvSpPr/>
      </dsp:nvSpPr>
      <dsp:spPr>
        <a:xfrm>
          <a:off x="3241554" y="1518274"/>
          <a:ext cx="2297720" cy="546752"/>
        </a:xfrm>
        <a:custGeom>
          <a:avLst/>
          <a:gdLst/>
          <a:ahLst/>
          <a:cxnLst/>
          <a:rect l="0" t="0" r="0" b="0"/>
          <a:pathLst>
            <a:path>
              <a:moveTo>
                <a:pt x="2297720" y="0"/>
              </a:moveTo>
              <a:lnTo>
                <a:pt x="2297720" y="372596"/>
              </a:lnTo>
              <a:lnTo>
                <a:pt x="0" y="372596"/>
              </a:lnTo>
              <a:lnTo>
                <a:pt x="0" y="5467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FCE5A9-21E8-478A-BC87-CE888DCEC66E}">
      <dsp:nvSpPr>
        <dsp:cNvPr id="0" name=""/>
        <dsp:cNvSpPr/>
      </dsp:nvSpPr>
      <dsp:spPr>
        <a:xfrm>
          <a:off x="943834" y="1518274"/>
          <a:ext cx="4595440" cy="546752"/>
        </a:xfrm>
        <a:custGeom>
          <a:avLst/>
          <a:gdLst/>
          <a:ahLst/>
          <a:cxnLst/>
          <a:rect l="0" t="0" r="0" b="0"/>
          <a:pathLst>
            <a:path>
              <a:moveTo>
                <a:pt x="4595440" y="0"/>
              </a:moveTo>
              <a:lnTo>
                <a:pt x="4595440" y="372596"/>
              </a:lnTo>
              <a:lnTo>
                <a:pt x="0" y="372596"/>
              </a:lnTo>
              <a:lnTo>
                <a:pt x="0" y="5467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0113E-0962-417C-8EFD-AFDA404D3E50}">
      <dsp:nvSpPr>
        <dsp:cNvPr id="0" name=""/>
        <dsp:cNvSpPr/>
      </dsp:nvSpPr>
      <dsp:spPr>
        <a:xfrm>
          <a:off x="4599298" y="324504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69130-C26A-43DF-8925-BAE820A36642}">
      <dsp:nvSpPr>
        <dsp:cNvPr id="0" name=""/>
        <dsp:cNvSpPr/>
      </dsp:nvSpPr>
      <dsp:spPr>
        <a:xfrm>
          <a:off x="4808181" y="522943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 dirty="0"/>
            <a:t>Mapeo de las dimensiones del negocio en las tablas dimensión:</a:t>
          </a:r>
          <a:endParaRPr lang="en-US" sz="1200" kern="1200" dirty="0"/>
        </a:p>
      </dsp:txBody>
      <dsp:txXfrm>
        <a:off x="4843145" y="557907"/>
        <a:ext cx="1810024" cy="1123842"/>
      </dsp:txXfrm>
    </dsp:sp>
    <dsp:sp modelId="{87064AF6-9643-45C3-95F5-C8F1D6F3713E}">
      <dsp:nvSpPr>
        <dsp:cNvPr id="0" name=""/>
        <dsp:cNvSpPr/>
      </dsp:nvSpPr>
      <dsp:spPr>
        <a:xfrm>
          <a:off x="3858" y="2065027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3A166-CB84-44A1-B227-65BB97837901}">
      <dsp:nvSpPr>
        <dsp:cNvPr id="0" name=""/>
        <dsp:cNvSpPr/>
      </dsp:nvSpPr>
      <dsp:spPr>
        <a:xfrm>
          <a:off x="212741" y="2263466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/>
            <a:t>Tiempo:</a:t>
          </a:r>
          <a:r>
            <a:rPr lang="es-PE" sz="1200" kern="1200"/>
            <a:t> Para analizar ventas por fecha, hora, día de la semana, trimestre, mes, año. Se mapea a la tabla </a:t>
          </a:r>
          <a:r>
            <a:rPr lang="es-PE" sz="1200" b="1" kern="1200"/>
            <a:t>Dim.Tiempo</a:t>
          </a:r>
          <a:endParaRPr lang="en-US" sz="1200" kern="1200"/>
        </a:p>
      </dsp:txBody>
      <dsp:txXfrm>
        <a:off x="247705" y="2298430"/>
        <a:ext cx="1810024" cy="1123842"/>
      </dsp:txXfrm>
    </dsp:sp>
    <dsp:sp modelId="{6B0A69F8-FE8C-4D5E-9D46-06F5E1F0A33D}">
      <dsp:nvSpPr>
        <dsp:cNvPr id="0" name=""/>
        <dsp:cNvSpPr/>
      </dsp:nvSpPr>
      <dsp:spPr>
        <a:xfrm>
          <a:off x="2301578" y="2065027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8A76F-F455-4AA2-AD5B-F9657F54A898}">
      <dsp:nvSpPr>
        <dsp:cNvPr id="0" name=""/>
        <dsp:cNvSpPr/>
      </dsp:nvSpPr>
      <dsp:spPr>
        <a:xfrm>
          <a:off x="2510461" y="2263466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/>
            <a:t>Empleado:</a:t>
          </a:r>
          <a:r>
            <a:rPr lang="es-PE" sz="1200" kern="1200"/>
            <a:t> Para analizar el desempeño de ventas por empleado. Se mapea a la tabla </a:t>
          </a:r>
          <a:r>
            <a:rPr lang="es-PE" sz="1200" b="1" kern="1200"/>
            <a:t>Dim.Empleado.</a:t>
          </a:r>
          <a:endParaRPr lang="en-US" sz="1200" kern="1200"/>
        </a:p>
      </dsp:txBody>
      <dsp:txXfrm>
        <a:off x="2545425" y="2298430"/>
        <a:ext cx="1810024" cy="1123842"/>
      </dsp:txXfrm>
    </dsp:sp>
    <dsp:sp modelId="{F1339493-0985-4823-B4A1-078E171418DF}">
      <dsp:nvSpPr>
        <dsp:cNvPr id="0" name=""/>
        <dsp:cNvSpPr/>
      </dsp:nvSpPr>
      <dsp:spPr>
        <a:xfrm>
          <a:off x="4599298" y="2065027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69CBB-16DD-435C-9CA2-F35B9F29789A}">
      <dsp:nvSpPr>
        <dsp:cNvPr id="0" name=""/>
        <dsp:cNvSpPr/>
      </dsp:nvSpPr>
      <dsp:spPr>
        <a:xfrm>
          <a:off x="4808181" y="2263466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/>
            <a:t>Cliente:</a:t>
          </a:r>
          <a:r>
            <a:rPr lang="es-PE" sz="1200" kern="1200"/>
            <a:t> Para analizar las ventas por cliente. Se mapea a la tabla </a:t>
          </a:r>
          <a:r>
            <a:rPr lang="es-PE" sz="1200" b="1" kern="1200"/>
            <a:t>Dim.Cliente.</a:t>
          </a:r>
          <a:endParaRPr lang="en-US" sz="1200" kern="1200"/>
        </a:p>
      </dsp:txBody>
      <dsp:txXfrm>
        <a:off x="4843145" y="2298430"/>
        <a:ext cx="1810024" cy="1123842"/>
      </dsp:txXfrm>
    </dsp:sp>
    <dsp:sp modelId="{5CAF8B30-1A97-4818-A1F2-5F57DD95987E}">
      <dsp:nvSpPr>
        <dsp:cNvPr id="0" name=""/>
        <dsp:cNvSpPr/>
      </dsp:nvSpPr>
      <dsp:spPr>
        <a:xfrm>
          <a:off x="6897018" y="2065027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E86F2-78C6-48F1-B8A0-76652DD6427E}">
      <dsp:nvSpPr>
        <dsp:cNvPr id="0" name=""/>
        <dsp:cNvSpPr/>
      </dsp:nvSpPr>
      <dsp:spPr>
        <a:xfrm>
          <a:off x="7105902" y="2263466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/>
            <a:t>Producto:</a:t>
          </a:r>
          <a:r>
            <a:rPr lang="es-PE" sz="1200" kern="1200"/>
            <a:t> Para analizar ventas por tipo de producto, si es preparado o no, y el producto específico. Se mapea a la tabla </a:t>
          </a:r>
          <a:r>
            <a:rPr lang="es-PE" sz="1200" b="1" kern="1200"/>
            <a:t>Dim.Producto.</a:t>
          </a:r>
          <a:endParaRPr lang="en-US" sz="1200" kern="1200"/>
        </a:p>
      </dsp:txBody>
      <dsp:txXfrm>
        <a:off x="7140866" y="2298430"/>
        <a:ext cx="1810024" cy="1123842"/>
      </dsp:txXfrm>
    </dsp:sp>
    <dsp:sp modelId="{63B6ED65-3C67-47AC-9372-1C153D0649AE}">
      <dsp:nvSpPr>
        <dsp:cNvPr id="0" name=""/>
        <dsp:cNvSpPr/>
      </dsp:nvSpPr>
      <dsp:spPr>
        <a:xfrm>
          <a:off x="9194738" y="2065027"/>
          <a:ext cx="1879952" cy="119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002F4-4EEF-4A46-8530-222F9638DF8B}">
      <dsp:nvSpPr>
        <dsp:cNvPr id="0" name=""/>
        <dsp:cNvSpPr/>
      </dsp:nvSpPr>
      <dsp:spPr>
        <a:xfrm>
          <a:off x="9403622" y="2263466"/>
          <a:ext cx="1879952" cy="11937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1" kern="1200"/>
            <a:t>Mesa:</a:t>
          </a:r>
          <a:r>
            <a:rPr lang="es-PE" sz="1200" kern="1200"/>
            <a:t> Para analizar las ventas por ubicación física dentro del restaurante. Se mapea a la tabla </a:t>
          </a:r>
          <a:r>
            <a:rPr lang="es-PE" sz="1200" b="1" kern="1200"/>
            <a:t>Dim.Mesa.</a:t>
          </a:r>
          <a:endParaRPr lang="en-US" sz="1200" kern="1200"/>
        </a:p>
      </dsp:txBody>
      <dsp:txXfrm>
        <a:off x="9438586" y="2298430"/>
        <a:ext cx="1810024" cy="11238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BE4C0-8715-4F3B-8324-49A67F570A8C}">
      <dsp:nvSpPr>
        <dsp:cNvPr id="0" name=""/>
        <dsp:cNvSpPr/>
      </dsp:nvSpPr>
      <dsp:spPr>
        <a:xfrm>
          <a:off x="0" y="3279"/>
          <a:ext cx="7334865" cy="6984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ED037-EEA6-40E5-877F-6A217CC77AE0}">
      <dsp:nvSpPr>
        <dsp:cNvPr id="0" name=""/>
        <dsp:cNvSpPr/>
      </dsp:nvSpPr>
      <dsp:spPr>
        <a:xfrm>
          <a:off x="211280" y="160429"/>
          <a:ext cx="384145" cy="3841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3AC4B-FE38-44CB-9210-1052B1EA0776}">
      <dsp:nvSpPr>
        <dsp:cNvPr id="0" name=""/>
        <dsp:cNvSpPr/>
      </dsp:nvSpPr>
      <dsp:spPr>
        <a:xfrm>
          <a:off x="806706" y="3279"/>
          <a:ext cx="6528158" cy="698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19" tIns="73919" rIns="73919" bIns="7391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 dirty="0"/>
            <a:t>Ingresos venta:</a:t>
          </a:r>
          <a:r>
            <a:rPr lang="es-PE" sz="1700" kern="1200" dirty="0"/>
            <a:t> Se puede ver los ingresos totales por día, por mes, por tipo de producto, por empleado, por cliente, etc.</a:t>
          </a:r>
          <a:endParaRPr lang="en-US" sz="1700" kern="1200" dirty="0"/>
        </a:p>
      </dsp:txBody>
      <dsp:txXfrm>
        <a:off x="806706" y="3279"/>
        <a:ext cx="6528158" cy="698446"/>
      </dsp:txXfrm>
    </dsp:sp>
    <dsp:sp modelId="{F679F5EC-3D68-4422-B015-EEA6A541C897}">
      <dsp:nvSpPr>
        <dsp:cNvPr id="0" name=""/>
        <dsp:cNvSpPr/>
      </dsp:nvSpPr>
      <dsp:spPr>
        <a:xfrm>
          <a:off x="0" y="876337"/>
          <a:ext cx="7334865" cy="6984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A4610-24BA-4756-9E60-0A2C2C17F318}">
      <dsp:nvSpPr>
        <dsp:cNvPr id="0" name=""/>
        <dsp:cNvSpPr/>
      </dsp:nvSpPr>
      <dsp:spPr>
        <a:xfrm>
          <a:off x="211280" y="1033488"/>
          <a:ext cx="384145" cy="3841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D5901-CD23-4B6B-96BD-03E897696876}">
      <dsp:nvSpPr>
        <dsp:cNvPr id="0" name=""/>
        <dsp:cNvSpPr/>
      </dsp:nvSpPr>
      <dsp:spPr>
        <a:xfrm>
          <a:off x="806706" y="876337"/>
          <a:ext cx="6528158" cy="698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19" tIns="73919" rIns="73919" bIns="7391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/>
            <a:t>Número de ventas:</a:t>
          </a:r>
          <a:r>
            <a:rPr lang="es-PE" sz="1700" kern="1200"/>
            <a:t> Se puede contar el número de pedidos por día, por mes, por tipo de pedido, por empleado, etc.</a:t>
          </a:r>
          <a:endParaRPr lang="en-US" sz="1700" kern="1200"/>
        </a:p>
      </dsp:txBody>
      <dsp:txXfrm>
        <a:off x="806706" y="876337"/>
        <a:ext cx="6528158" cy="698446"/>
      </dsp:txXfrm>
    </dsp:sp>
    <dsp:sp modelId="{D94C80EF-B68F-4495-9CE1-2F0BCE8840D7}">
      <dsp:nvSpPr>
        <dsp:cNvPr id="0" name=""/>
        <dsp:cNvSpPr/>
      </dsp:nvSpPr>
      <dsp:spPr>
        <a:xfrm>
          <a:off x="0" y="1749396"/>
          <a:ext cx="7334865" cy="6984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F78563-A09A-43C0-93BD-EF1515E45A0D}">
      <dsp:nvSpPr>
        <dsp:cNvPr id="0" name=""/>
        <dsp:cNvSpPr/>
      </dsp:nvSpPr>
      <dsp:spPr>
        <a:xfrm>
          <a:off x="211280" y="1906546"/>
          <a:ext cx="384145" cy="3841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D36F0-FCC9-43CF-BED5-FC34A410E338}">
      <dsp:nvSpPr>
        <dsp:cNvPr id="0" name=""/>
        <dsp:cNvSpPr/>
      </dsp:nvSpPr>
      <dsp:spPr>
        <a:xfrm>
          <a:off x="806706" y="1749396"/>
          <a:ext cx="6528158" cy="698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19" tIns="73919" rIns="73919" bIns="7391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/>
            <a:t>Venta completa:</a:t>
          </a:r>
          <a:r>
            <a:rPr lang="es-PE" sz="1700" kern="1200"/>
            <a:t> Se puede ver las ventas completadas por día, por mes, por tipo de producto, por empleado, por cliente, etc.</a:t>
          </a:r>
          <a:endParaRPr lang="en-US" sz="1700" kern="1200"/>
        </a:p>
      </dsp:txBody>
      <dsp:txXfrm>
        <a:off x="806706" y="1749396"/>
        <a:ext cx="6528158" cy="698446"/>
      </dsp:txXfrm>
    </dsp:sp>
    <dsp:sp modelId="{9C6A4F1E-A206-4363-A90D-9F20C8233A00}">
      <dsp:nvSpPr>
        <dsp:cNvPr id="0" name=""/>
        <dsp:cNvSpPr/>
      </dsp:nvSpPr>
      <dsp:spPr>
        <a:xfrm>
          <a:off x="0" y="2622454"/>
          <a:ext cx="7334865" cy="6984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846B2-698E-451C-870C-1FF26107C29D}">
      <dsp:nvSpPr>
        <dsp:cNvPr id="0" name=""/>
        <dsp:cNvSpPr/>
      </dsp:nvSpPr>
      <dsp:spPr>
        <a:xfrm>
          <a:off x="211280" y="2779605"/>
          <a:ext cx="384145" cy="3841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649BD-B3D9-424C-B926-0467CA18F934}">
      <dsp:nvSpPr>
        <dsp:cNvPr id="0" name=""/>
        <dsp:cNvSpPr/>
      </dsp:nvSpPr>
      <dsp:spPr>
        <a:xfrm>
          <a:off x="806706" y="2622454"/>
          <a:ext cx="6528158" cy="698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19" tIns="73919" rIns="73919" bIns="7391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/>
            <a:t>Costo: </a:t>
          </a:r>
          <a:r>
            <a:rPr lang="es-PE" sz="1700" kern="1200"/>
            <a:t>permite visualizar el costo asociado a los productos vendidos.</a:t>
          </a:r>
          <a:endParaRPr lang="en-US" sz="1700" kern="1200"/>
        </a:p>
      </dsp:txBody>
      <dsp:txXfrm>
        <a:off x="806706" y="2622454"/>
        <a:ext cx="6528158" cy="698446"/>
      </dsp:txXfrm>
    </dsp:sp>
    <dsp:sp modelId="{6CEFBA66-D0E4-46DD-B4BB-2986F7833B84}">
      <dsp:nvSpPr>
        <dsp:cNvPr id="0" name=""/>
        <dsp:cNvSpPr/>
      </dsp:nvSpPr>
      <dsp:spPr>
        <a:xfrm>
          <a:off x="0" y="3495513"/>
          <a:ext cx="7334865" cy="6984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2CFD0-2FEB-4D55-823C-DE3F7A352F8F}">
      <dsp:nvSpPr>
        <dsp:cNvPr id="0" name=""/>
        <dsp:cNvSpPr/>
      </dsp:nvSpPr>
      <dsp:spPr>
        <a:xfrm>
          <a:off x="211280" y="3652663"/>
          <a:ext cx="384145" cy="3841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18DEB-652F-4C5B-A132-C565A9C533F9}">
      <dsp:nvSpPr>
        <dsp:cNvPr id="0" name=""/>
        <dsp:cNvSpPr/>
      </dsp:nvSpPr>
      <dsp:spPr>
        <a:xfrm>
          <a:off x="806706" y="3495513"/>
          <a:ext cx="6528158" cy="698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19" tIns="73919" rIns="73919" bIns="7391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/>
            <a:t>Margen: </a:t>
          </a:r>
          <a:r>
            <a:rPr lang="es-PE" sz="1700" kern="1200"/>
            <a:t>Permite calcular la diferencia entre el precio de venta y el costo (precio – costo).</a:t>
          </a:r>
          <a:endParaRPr lang="en-US" sz="1700" kern="1200"/>
        </a:p>
      </dsp:txBody>
      <dsp:txXfrm>
        <a:off x="806706" y="3495513"/>
        <a:ext cx="6528158" cy="698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3349F-F122-4AA8-AE9A-DF0BE79E28ED}">
      <dsp:nvSpPr>
        <dsp:cNvPr id="0" name=""/>
        <dsp:cNvSpPr/>
      </dsp:nvSpPr>
      <dsp:spPr>
        <a:xfrm>
          <a:off x="5196514" y="1651034"/>
          <a:ext cx="4564787" cy="3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740"/>
              </a:lnTo>
              <a:lnTo>
                <a:pt x="4564787" y="246740"/>
              </a:lnTo>
              <a:lnTo>
                <a:pt x="4564787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52D1B7-B46A-488B-A7EA-A961FFF068C0}">
      <dsp:nvSpPr>
        <dsp:cNvPr id="0" name=""/>
        <dsp:cNvSpPr/>
      </dsp:nvSpPr>
      <dsp:spPr>
        <a:xfrm>
          <a:off x="5196514" y="1651034"/>
          <a:ext cx="3043191" cy="3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740"/>
              </a:lnTo>
              <a:lnTo>
                <a:pt x="3043191" y="246740"/>
              </a:lnTo>
              <a:lnTo>
                <a:pt x="3043191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DEB5F-E737-4A20-BBC6-44BF292A6919}">
      <dsp:nvSpPr>
        <dsp:cNvPr id="0" name=""/>
        <dsp:cNvSpPr/>
      </dsp:nvSpPr>
      <dsp:spPr>
        <a:xfrm>
          <a:off x="5196514" y="1651034"/>
          <a:ext cx="1521595" cy="3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740"/>
              </a:lnTo>
              <a:lnTo>
                <a:pt x="1521595" y="246740"/>
              </a:lnTo>
              <a:lnTo>
                <a:pt x="1521595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41A7C-725E-4876-9E53-6DA800B4271E}">
      <dsp:nvSpPr>
        <dsp:cNvPr id="0" name=""/>
        <dsp:cNvSpPr/>
      </dsp:nvSpPr>
      <dsp:spPr>
        <a:xfrm>
          <a:off x="5150794" y="1651034"/>
          <a:ext cx="91440" cy="3620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CB9BFF-46C3-4AB2-8076-8BD7DADA6FBE}">
      <dsp:nvSpPr>
        <dsp:cNvPr id="0" name=""/>
        <dsp:cNvSpPr/>
      </dsp:nvSpPr>
      <dsp:spPr>
        <a:xfrm>
          <a:off x="3674918" y="1651034"/>
          <a:ext cx="1521595" cy="362070"/>
        </a:xfrm>
        <a:custGeom>
          <a:avLst/>
          <a:gdLst/>
          <a:ahLst/>
          <a:cxnLst/>
          <a:rect l="0" t="0" r="0" b="0"/>
          <a:pathLst>
            <a:path>
              <a:moveTo>
                <a:pt x="1521595" y="0"/>
              </a:moveTo>
              <a:lnTo>
                <a:pt x="1521595" y="246740"/>
              </a:lnTo>
              <a:lnTo>
                <a:pt x="0" y="246740"/>
              </a:lnTo>
              <a:lnTo>
                <a:pt x="0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CF41C-5352-44FC-B193-FC115333F563}">
      <dsp:nvSpPr>
        <dsp:cNvPr id="0" name=""/>
        <dsp:cNvSpPr/>
      </dsp:nvSpPr>
      <dsp:spPr>
        <a:xfrm>
          <a:off x="2153322" y="1651034"/>
          <a:ext cx="3043191" cy="362070"/>
        </a:xfrm>
        <a:custGeom>
          <a:avLst/>
          <a:gdLst/>
          <a:ahLst/>
          <a:cxnLst/>
          <a:rect l="0" t="0" r="0" b="0"/>
          <a:pathLst>
            <a:path>
              <a:moveTo>
                <a:pt x="3043191" y="0"/>
              </a:moveTo>
              <a:lnTo>
                <a:pt x="3043191" y="246740"/>
              </a:lnTo>
              <a:lnTo>
                <a:pt x="0" y="246740"/>
              </a:lnTo>
              <a:lnTo>
                <a:pt x="0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8EB137-86D6-41DD-93C6-2D183BCB17EC}">
      <dsp:nvSpPr>
        <dsp:cNvPr id="0" name=""/>
        <dsp:cNvSpPr/>
      </dsp:nvSpPr>
      <dsp:spPr>
        <a:xfrm>
          <a:off x="631727" y="1651034"/>
          <a:ext cx="4564787" cy="362070"/>
        </a:xfrm>
        <a:custGeom>
          <a:avLst/>
          <a:gdLst/>
          <a:ahLst/>
          <a:cxnLst/>
          <a:rect l="0" t="0" r="0" b="0"/>
          <a:pathLst>
            <a:path>
              <a:moveTo>
                <a:pt x="4564787" y="0"/>
              </a:moveTo>
              <a:lnTo>
                <a:pt x="4564787" y="246740"/>
              </a:lnTo>
              <a:lnTo>
                <a:pt x="0" y="246740"/>
              </a:lnTo>
              <a:lnTo>
                <a:pt x="0" y="36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04F0F3-B688-4769-A734-C5F30453380A}">
      <dsp:nvSpPr>
        <dsp:cNvPr id="0" name=""/>
        <dsp:cNvSpPr/>
      </dsp:nvSpPr>
      <dsp:spPr>
        <a:xfrm>
          <a:off x="3683293" y="860496"/>
          <a:ext cx="30264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45703-4048-4C3A-93E8-8FA69F6D7C99}">
      <dsp:nvSpPr>
        <dsp:cNvPr id="0" name=""/>
        <dsp:cNvSpPr/>
      </dsp:nvSpPr>
      <dsp:spPr>
        <a:xfrm>
          <a:off x="3821620" y="991906"/>
          <a:ext cx="30264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 dirty="0"/>
            <a:t>Características de los recursos utilizados en el desarrollo del DATAMART</a:t>
          </a:r>
          <a:endParaRPr lang="en-US" sz="1400" kern="1200" dirty="0"/>
        </a:p>
      </dsp:txBody>
      <dsp:txXfrm>
        <a:off x="3844774" y="1015060"/>
        <a:ext cx="2980133" cy="744230"/>
      </dsp:txXfrm>
    </dsp:sp>
    <dsp:sp modelId="{CA35883F-49EA-41BA-ABAD-FD0EE34683F7}">
      <dsp:nvSpPr>
        <dsp:cNvPr id="0" name=""/>
        <dsp:cNvSpPr/>
      </dsp:nvSpPr>
      <dsp:spPr>
        <a:xfrm>
          <a:off x="9256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5754D-D64A-4641-8AA0-5782BFEB2046}">
      <dsp:nvSpPr>
        <dsp:cNvPr id="0" name=""/>
        <dsp:cNvSpPr/>
      </dsp:nvSpPr>
      <dsp:spPr>
        <a:xfrm>
          <a:off x="147582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Hardware: Computadora personal.</a:t>
          </a:r>
          <a:endParaRPr lang="en-US" sz="1400" kern="1200"/>
        </a:p>
      </dsp:txBody>
      <dsp:txXfrm>
        <a:off x="170736" y="2167669"/>
        <a:ext cx="1198633" cy="744230"/>
      </dsp:txXfrm>
    </dsp:sp>
    <dsp:sp modelId="{8C30E22F-51D5-4608-8920-8DE529ACA2FA}">
      <dsp:nvSpPr>
        <dsp:cNvPr id="0" name=""/>
        <dsp:cNvSpPr/>
      </dsp:nvSpPr>
      <dsp:spPr>
        <a:xfrm>
          <a:off x="1530851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A6576-9DF1-48BE-851D-1336B337715C}">
      <dsp:nvSpPr>
        <dsp:cNvPr id="0" name=""/>
        <dsp:cNvSpPr/>
      </dsp:nvSpPr>
      <dsp:spPr>
        <a:xfrm>
          <a:off x="1669178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Servidores: Computadora personal.</a:t>
          </a:r>
          <a:endParaRPr lang="en-US" sz="1400" kern="1200"/>
        </a:p>
      </dsp:txBody>
      <dsp:txXfrm>
        <a:off x="1692332" y="2167669"/>
        <a:ext cx="1198633" cy="744230"/>
      </dsp:txXfrm>
    </dsp:sp>
    <dsp:sp modelId="{0928CE0E-C7A5-431E-949D-A8FF78FA923C}">
      <dsp:nvSpPr>
        <dsp:cNvPr id="0" name=""/>
        <dsp:cNvSpPr/>
      </dsp:nvSpPr>
      <dsp:spPr>
        <a:xfrm>
          <a:off x="3052447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FF21B-8EC5-4264-90EE-BEBE3C81CFD0}">
      <dsp:nvSpPr>
        <dsp:cNvPr id="0" name=""/>
        <dsp:cNvSpPr/>
      </dsp:nvSpPr>
      <dsp:spPr>
        <a:xfrm>
          <a:off x="3190774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SQL Server</a:t>
          </a:r>
          <a:endParaRPr lang="en-US" sz="1400" kern="1200"/>
        </a:p>
      </dsp:txBody>
      <dsp:txXfrm>
        <a:off x="3213928" y="2167669"/>
        <a:ext cx="1198633" cy="744230"/>
      </dsp:txXfrm>
    </dsp:sp>
    <dsp:sp modelId="{E04187F6-B11C-4417-A51B-5A5220EEAD5C}">
      <dsp:nvSpPr>
        <dsp:cNvPr id="0" name=""/>
        <dsp:cNvSpPr/>
      </dsp:nvSpPr>
      <dsp:spPr>
        <a:xfrm>
          <a:off x="4574043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AE534-7897-486E-B976-CC5C92E5C322}">
      <dsp:nvSpPr>
        <dsp:cNvPr id="0" name=""/>
        <dsp:cNvSpPr/>
      </dsp:nvSpPr>
      <dsp:spPr>
        <a:xfrm>
          <a:off x="4712369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SQL Server Management Studio</a:t>
          </a:r>
          <a:endParaRPr lang="en-US" sz="1400" kern="1200"/>
        </a:p>
      </dsp:txBody>
      <dsp:txXfrm>
        <a:off x="4735523" y="2167669"/>
        <a:ext cx="1198633" cy="744230"/>
      </dsp:txXfrm>
    </dsp:sp>
    <dsp:sp modelId="{425FEE2E-F672-4C61-9298-B3E33915A4E5}">
      <dsp:nvSpPr>
        <dsp:cNvPr id="0" name=""/>
        <dsp:cNvSpPr/>
      </dsp:nvSpPr>
      <dsp:spPr>
        <a:xfrm>
          <a:off x="6095638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B5E91-C903-4862-A408-E7CA2CE3ECB3}">
      <dsp:nvSpPr>
        <dsp:cNvPr id="0" name=""/>
        <dsp:cNvSpPr/>
      </dsp:nvSpPr>
      <dsp:spPr>
        <a:xfrm>
          <a:off x="6233965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SQL Server Integration Service</a:t>
          </a:r>
          <a:endParaRPr lang="en-US" sz="1400" kern="1200"/>
        </a:p>
      </dsp:txBody>
      <dsp:txXfrm>
        <a:off x="6257119" y="2167669"/>
        <a:ext cx="1198633" cy="744230"/>
      </dsp:txXfrm>
    </dsp:sp>
    <dsp:sp modelId="{69F3AE95-C8C5-46BC-BB55-6343651438C9}">
      <dsp:nvSpPr>
        <dsp:cNvPr id="0" name=""/>
        <dsp:cNvSpPr/>
      </dsp:nvSpPr>
      <dsp:spPr>
        <a:xfrm>
          <a:off x="7617234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E86FD-40D9-447A-9B35-E1916810DC4A}">
      <dsp:nvSpPr>
        <dsp:cNvPr id="0" name=""/>
        <dsp:cNvSpPr/>
      </dsp:nvSpPr>
      <dsp:spPr>
        <a:xfrm>
          <a:off x="7755561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Python</a:t>
          </a:r>
          <a:endParaRPr lang="en-US" sz="1400" kern="1200"/>
        </a:p>
      </dsp:txBody>
      <dsp:txXfrm>
        <a:off x="7778715" y="2167669"/>
        <a:ext cx="1198633" cy="744230"/>
      </dsp:txXfrm>
    </dsp:sp>
    <dsp:sp modelId="{9678FD14-5028-4A0A-AF31-78936E5DE564}">
      <dsp:nvSpPr>
        <dsp:cNvPr id="0" name=""/>
        <dsp:cNvSpPr/>
      </dsp:nvSpPr>
      <dsp:spPr>
        <a:xfrm>
          <a:off x="9138830" y="2013105"/>
          <a:ext cx="1244941" cy="790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05B6F-7211-4256-8B47-D151CA85F7D5}">
      <dsp:nvSpPr>
        <dsp:cNvPr id="0" name=""/>
        <dsp:cNvSpPr/>
      </dsp:nvSpPr>
      <dsp:spPr>
        <a:xfrm>
          <a:off x="9277157" y="2144515"/>
          <a:ext cx="1244941" cy="790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Pentaho</a:t>
          </a:r>
          <a:endParaRPr lang="en-US" sz="1400" kern="1200"/>
        </a:p>
      </dsp:txBody>
      <dsp:txXfrm>
        <a:off x="9300311" y="2167669"/>
        <a:ext cx="1198633" cy="744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AA74B-46A5-4E03-B325-2C9F19A56430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66F91-646D-499D-8ED2-B572DDB37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989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0322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489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74A4-2156-A1E8-EAF7-CAD47F04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978200-53DB-8B97-C325-092FCF91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5D35D9-9B9D-8D29-FB6C-47534ED3C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C9BC21-5747-0D03-2140-945D54608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5067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F2FE-3052-69AC-8F67-536427EF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B1C262-B817-72BC-8AC1-8FA30E3EC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487CCC-59A1-4069-F463-E37FE26F9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CA595F-379D-1518-49CC-403B9E4AD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3961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AF97-C452-9AEC-011A-CD6DAF88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6E956C-7897-5BAE-B3B3-4BC3C3CB6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0EF46A-7A5D-DA5A-A0AC-4A580E6AA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1EF1B9-FBF8-DCDC-2156-A866EFA48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313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138F-4B45-88ED-B945-E2B53D1B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0066FC-6C05-EBC0-D0FD-688FAE0BE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41F06A-2DC3-E1B0-A5BC-12225FD15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CC6508-FA51-25AE-F6C2-A170B4F62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192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5202-EABC-A73D-24D0-6076E7AD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68AE72-AF52-408E-FD06-AB6CBAAED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34D864-1218-6EA5-D8A8-48D169450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1052EF-6449-AAAB-6399-C4EA637A4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82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7EA3-065F-D774-5F5B-B1CD1D877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51A2E1-5587-FA74-67C1-E762F9A2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050710-75E2-0AAF-DA81-31C4E9DD0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C482CC-7D0C-87C0-1899-34888FE72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912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4870-B185-296C-E4EE-C81E9B9F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7C9D12-A94E-BC68-5FFB-83A45EA1E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D39CA3C-13D0-C5BE-64D3-B07C050AA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52477-CFFE-314F-AA80-3A49EB102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15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0674-22C8-144C-8791-20F619F2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A8F123-B3D2-1F88-6C98-1D6167335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83218F-49E5-B604-A1C1-9AB6591A2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FBAA00-38A9-DD77-4F7C-BCF9BB827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983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254E-9F70-F5ED-E382-7660A8BD1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D83AB5-A0AC-9736-73E0-6DB8C375B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C5142E-7EC4-94A8-A94C-7B84D42D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73B8B9-7E73-463C-F125-3D6FA3A8B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671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04AAE-0BA1-68F2-0B06-5FCDD0EE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FE032E-D7A4-AE8D-730B-43E6E500E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54A3CC-2B45-FC3B-ADDC-961CB19E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33399A-F6DB-6935-0C84-C44DD6F9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332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ED7C-45C0-0302-0A59-2A04C7ED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BE0C60-6790-7D11-64ED-01642E7C3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67B526-6F94-518E-5473-6A76C2E34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8ECD6C-A6A8-942D-0181-31AD7F852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252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360B-9CC5-F736-DE27-2D31FC52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92530F-70A2-2033-B677-29B677E72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D12F5F-4D87-2EB3-562F-9B22BC204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1D84FD-FB5A-3B71-D578-92B60F89E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448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62C0-BA31-C5AD-63D8-F729EF93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32381B-3B68-C1C5-F429-6731CD63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E38E3B-0D07-4BCD-8367-9CC114EC5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35D8C7-6AD7-2CE1-F148-67A27BD6B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6F91-646D-499D-8ED2-B572DDB37172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28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137B9-B850-DF6B-FC93-1DFF34694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14AE3D-BB07-52CA-7264-A6685522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0566E7-EECC-0A27-57C3-30CB76B1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DF490-2F32-75AD-A41E-6263E598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946E0-0CE2-09D7-091B-ACA41D27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697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7D2E3-E9AD-E143-E35D-3B32EB77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7A065-F93C-8A74-201C-C027DBCAD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B40C83-5EAA-6AC7-B9DC-F9C41385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582E0E-B4F1-0204-F5AF-A126624B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44512E-E957-4502-DB3E-D1FA5482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36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902C7-F8AD-B5E4-F29F-2E45658C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56C31C-0F5E-B14A-7BA3-EEBFFB306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2FDEE2-2C45-94A1-FCF6-6E11427D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F96F6C-37D9-C1A3-CD52-7637D011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69247-A260-5552-78A2-C0D9B426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899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9A7E2-5CCF-B8D9-FC4B-0BC6F6F5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0BEEA-F024-A4E8-DB09-E6E314FB6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56B8D0-2300-1583-5E65-3C6E22A83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113C5B-68C7-B603-8A59-3075064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486C4F-D398-0AF3-E195-6B3B8FBC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BA0C5B-BADD-3F2E-BD47-4BEB5502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423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0CDDB-4512-2A7D-0A43-04B07169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D7D205-F25B-09CF-FA54-7717E6E40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B7D02B-446C-E962-6CA8-8367E3EF6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083A46-1B89-314C-B32F-82B220EAA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4640CA-9E95-142F-F077-B95F36734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3C7B05-6117-C1D2-7C7E-94DBC270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7EF861-09F7-4B41-E90D-A1C9D6CD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11F2DD6-0737-5415-B09E-B3C58300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40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E5AE4-737A-1B70-76B6-0E099608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CDE86D-A25C-1AAC-E32F-4C1EE94F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EC0907-7395-A983-8BAE-1C15C3D0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E6AD9C-0607-C103-7461-2765829B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1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DFDC8A-3171-F305-447C-37F0F5D0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FFF5D5-C080-45C9-0662-B5E214E4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ACF152-DC77-C101-3075-3EC075C9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899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5718-C15D-7081-38FD-8E7A63BF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C4320-8441-C081-451D-2520D83B5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65C64D-F540-FADB-CF1C-E444CC101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82A401-02D7-A17A-9A2D-1E1B7C65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2E13C-2B52-5912-4993-6248A517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6E57B-0D97-FED4-EF6D-92DF1DE2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50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F8BC7-837F-8E93-1DC0-3EDF9FCD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27AE88-1FED-7F76-6620-165433021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885CFB-0E2C-FF20-071B-67BE73CC0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A75A9A-71F7-8453-705C-799775A8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81443C-35AB-68CC-DDBD-C1C463CC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FCC0A6-8DF0-8354-44E5-F7B623E1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91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9660D-7A95-7192-AAEE-83C563FB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DC2A35-ACB8-657D-8B1D-6ACB40648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BA1C34-DF4E-4E93-0A9F-3DD817F5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BA8EDE-2F4C-0716-D38C-6712184C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3F3AE-47D7-1CCF-5F7D-19A6EF1E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38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6CAA7F-5A44-7206-497C-00C16964F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E929AE-B2AA-DF7A-7812-9398BD61E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16346F-EB28-6071-4A10-B86E5CB7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F96635-1436-E316-9E96-A4ABE9FE6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AB774-3500-6251-B43C-B5451BEC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87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A3426C-42F3-BD0F-BFF1-0D7A0B2A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F65F03-9F49-9B35-AEBC-80F0294F1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2F6872-BDC6-3CF5-8EEB-04DE376BB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84FCA-8C77-428F-8804-922655547008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3AAE67-D3BD-76EF-46AF-8F709EE8F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6AF02B-4D4E-11AF-CC10-152636394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703B-0B8F-4705-AF7F-70BA643AD4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436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C3339-99C5-F370-2639-C855FB658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73" y="1316334"/>
            <a:ext cx="3656325" cy="1150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INTELIGENCIA DE NEGOCIOS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766B54-E65A-14DC-637C-D76390492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373" y="2589033"/>
            <a:ext cx="4008666" cy="276736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b="1" dirty="0" err="1"/>
              <a:t>Integrantes</a:t>
            </a:r>
            <a:r>
              <a:rPr lang="en-US" sz="1700" b="1" dirty="0"/>
              <a:t>:</a:t>
            </a:r>
            <a:endParaRPr lang="en-US" sz="1700" dirty="0"/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Limay Rodriguez, Adriana </a:t>
            </a:r>
            <a:r>
              <a:rPr lang="en-US" sz="1700" dirty="0" err="1"/>
              <a:t>Anthonela</a:t>
            </a:r>
            <a:endParaRPr lang="en-US" sz="1700" dirty="0"/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Llanos </a:t>
            </a:r>
            <a:r>
              <a:rPr lang="en-US" sz="1700" dirty="0" err="1"/>
              <a:t>Cerquin</a:t>
            </a:r>
            <a:r>
              <a:rPr lang="en-US" sz="1700" dirty="0"/>
              <a:t>, Melanie Brizeth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Perez Briceño, Darick André 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Valdiviezo Zavaleta, Jesús Arturo </a:t>
            </a:r>
          </a:p>
        </p:txBody>
      </p:sp>
      <p:pic>
        <p:nvPicPr>
          <p:cNvPr id="5" name="Picture 4" descr="Una ciudad renderizada digitalmente con números">
            <a:extLst>
              <a:ext uri="{FF2B5EF4-FFF2-40B4-BE49-F238E27FC236}">
                <a16:creationId xmlns:a16="http://schemas.microsoft.com/office/drawing/2014/main" id="{4EB22366-4DEA-C1F5-9070-536BB313D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91" r="31401" b="-1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2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A56ACD9-25EB-2615-4E40-8EC96548DF3D}"/>
              </a:ext>
            </a:extLst>
          </p:cNvPr>
          <p:cNvSpPr txBox="1"/>
          <p:nvPr/>
        </p:nvSpPr>
        <p:spPr>
          <a:xfrm>
            <a:off x="633419" y="2291024"/>
            <a:ext cx="4620584" cy="19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effectLst/>
                <a:latin typeface="+mj-lt"/>
                <a:ea typeface="+mj-ea"/>
                <a:cs typeface="+mj-cs"/>
              </a:rPr>
              <a:t>CAP 4. MODELO LÓGICO  MODELO DIMENSIONAL</a:t>
            </a:r>
          </a:p>
        </p:txBody>
      </p:sp>
      <p:pic>
        <p:nvPicPr>
          <p:cNvPr id="5" name="Picture 4" descr="Formas y patrones coloridos">
            <a:extLst>
              <a:ext uri="{FF2B5EF4-FFF2-40B4-BE49-F238E27FC236}">
                <a16:creationId xmlns:a16="http://schemas.microsoft.com/office/drawing/2014/main" id="{F1CBF6D2-0F1F-4402-5508-C9B9249D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46" r="2241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585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1F5284B-3F5C-C4A2-25EC-A425D7DD97E6}"/>
              </a:ext>
            </a:extLst>
          </p:cNvPr>
          <p:cNvSpPr txBox="1"/>
          <p:nvPr/>
        </p:nvSpPr>
        <p:spPr>
          <a:xfrm>
            <a:off x="668593" y="753018"/>
            <a:ext cx="11366091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300"/>
              </a:spcAft>
              <a:buNone/>
            </a:pP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4.1 Desarrollo de un DATAMART para el área de Ventas de la empresa El sabor Cajamarquina.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D3A7F3-F8E1-AFAB-E69F-5E0403E15222}"/>
              </a:ext>
            </a:extLst>
          </p:cNvPr>
          <p:cNvSpPr txBox="1"/>
          <p:nvPr/>
        </p:nvSpPr>
        <p:spPr>
          <a:xfrm>
            <a:off x="254557" y="1378298"/>
            <a:ext cx="3628103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Definir dimensiones</a:t>
            </a: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uadroTexto 6">
            <a:extLst>
              <a:ext uri="{FF2B5EF4-FFF2-40B4-BE49-F238E27FC236}">
                <a16:creationId xmlns:a16="http://schemas.microsoft.com/office/drawing/2014/main" id="{92B1323E-301B-CD94-BC71-B3F496F69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438315"/>
              </p:ext>
            </p:extLst>
          </p:nvPr>
        </p:nvGraphicFramePr>
        <p:xfrm>
          <a:off x="526187" y="2192153"/>
          <a:ext cx="11287433" cy="3781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16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1F25D92-0888-643D-7DA4-FDABBEE0F3D9}"/>
              </a:ext>
            </a:extLst>
          </p:cNvPr>
          <p:cNvSpPr txBox="1"/>
          <p:nvPr/>
        </p:nvSpPr>
        <p:spPr>
          <a:xfrm>
            <a:off x="797972" y="3157207"/>
            <a:ext cx="3702579" cy="8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FFFF"/>
                </a:solidFill>
              </a:rPr>
              <a:t>Diccionario de datos</a:t>
            </a:r>
            <a:endParaRPr lang="en-US" sz="2000" b="1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2C6CCF9-2982-782B-FAF1-9745B535B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503919"/>
              </p:ext>
            </p:extLst>
          </p:nvPr>
        </p:nvGraphicFramePr>
        <p:xfrm>
          <a:off x="5494503" y="110128"/>
          <a:ext cx="6461091" cy="6637744"/>
        </p:xfrm>
        <a:graphic>
          <a:graphicData uri="http://schemas.openxmlformats.org/drawingml/2006/table">
            <a:tbl>
              <a:tblPr firstRow="1" firstCol="1" bandRow="1"/>
              <a:tblGrid>
                <a:gridCol w="1333312">
                  <a:extLst>
                    <a:ext uri="{9D8B030D-6E8A-4147-A177-3AD203B41FA5}">
                      <a16:colId xmlns:a16="http://schemas.microsoft.com/office/drawing/2014/main" val="919566992"/>
                    </a:ext>
                  </a:extLst>
                </a:gridCol>
                <a:gridCol w="1197543">
                  <a:extLst>
                    <a:ext uri="{9D8B030D-6E8A-4147-A177-3AD203B41FA5}">
                      <a16:colId xmlns:a16="http://schemas.microsoft.com/office/drawing/2014/main" val="2469302460"/>
                    </a:ext>
                  </a:extLst>
                </a:gridCol>
                <a:gridCol w="1163270">
                  <a:extLst>
                    <a:ext uri="{9D8B030D-6E8A-4147-A177-3AD203B41FA5}">
                      <a16:colId xmlns:a16="http://schemas.microsoft.com/office/drawing/2014/main" val="2458480466"/>
                    </a:ext>
                  </a:extLst>
                </a:gridCol>
                <a:gridCol w="2766966">
                  <a:extLst>
                    <a:ext uri="{9D8B030D-6E8A-4147-A177-3AD203B41FA5}">
                      <a16:colId xmlns:a16="http://schemas.microsoft.com/office/drawing/2014/main" val="2114204843"/>
                    </a:ext>
                  </a:extLst>
                </a:gridCol>
              </a:tblGrid>
              <a:tr h="366076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DICCIONARIO DE LA DIMENSIÓN TIEMPO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08" marR="66408" marT="33204" marB="33204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018166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Atributo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Restricción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33033"/>
                  </a:ext>
                </a:extLst>
              </a:tr>
              <a:tr h="8173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tiempokey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PRIMARY KEY, 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Clave única de la dimensión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93054"/>
                  </a:ext>
                </a:extLst>
              </a:tr>
              <a:tr h="5331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fecha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DATETIME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 fecha completa en formato DATE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331124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anio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año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4848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trimestre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del trimestre (1-4).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610383"/>
                  </a:ext>
                </a:extLst>
              </a:tr>
              <a:tr h="5331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nombreTrimestre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CHAR(2)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nombre del trimestre (e.g., 'Q1')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71920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mes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del mes (1-12).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695644"/>
                  </a:ext>
                </a:extLst>
              </a:tr>
              <a:tr h="5530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nombreMes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NVARCHAR(50)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nombre completo del mes (e.g., 'Enero', 'Febrero').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58300"/>
                  </a:ext>
                </a:extLst>
              </a:tr>
              <a:tr h="5331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semanaAnio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 la semana en el año (1 53).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611814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diaAnio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del día del año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33911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diaMes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del día del mes 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102339"/>
                  </a:ext>
                </a:extLst>
              </a:tr>
              <a:tr h="8173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diaSemana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número del día de la semana (1=Lunes, 7=Domingo).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01136"/>
                  </a:ext>
                </a:extLst>
              </a:tr>
              <a:tr h="8173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nombreDia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NVARCHAR(</a:t>
                      </a:r>
                      <a:r>
                        <a:rPr lang="es-ES" sz="1200" u="sng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 nombre completo del día de la semana (</a:t>
                      </a:r>
                      <a:r>
                        <a:rPr lang="es-PE" sz="12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e.g</a:t>
                      </a:r>
                      <a:r>
                        <a:rPr lang="es-PE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., 'Lunes', 'Martes').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95" marR="36795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97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73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150BA-C53F-2B53-3B90-6833B787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D752D53-2F5D-B0A9-E059-0467E360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533D476-BA2F-B647-2FF9-50EBDA48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585B9B-798C-0EFB-85C4-A0E4D0502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A73BC8-D053-0C5A-BEDE-25C4D155F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111BA9B3-9728-D602-81D0-24BE17CC3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30DF52F-3767-744F-3775-06F5CA0D8612}"/>
              </a:ext>
            </a:extLst>
          </p:cNvPr>
          <p:cNvSpPr txBox="1"/>
          <p:nvPr/>
        </p:nvSpPr>
        <p:spPr>
          <a:xfrm>
            <a:off x="797972" y="3157207"/>
            <a:ext cx="3702579" cy="8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FFFF"/>
                </a:solidFill>
              </a:rPr>
              <a:t>Diccionario de datos</a:t>
            </a:r>
            <a:endParaRPr lang="en-US" sz="2000" b="1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F19682-5276-E606-C807-08B6D2D17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411008"/>
              </p:ext>
            </p:extLst>
          </p:nvPr>
        </p:nvGraphicFramePr>
        <p:xfrm>
          <a:off x="5407742" y="186814"/>
          <a:ext cx="6587614" cy="6193451"/>
        </p:xfrm>
        <a:graphic>
          <a:graphicData uri="http://schemas.openxmlformats.org/drawingml/2006/table">
            <a:tbl>
              <a:tblPr firstRow="1" firstCol="1" bandRow="1"/>
              <a:tblGrid>
                <a:gridCol w="1583992">
                  <a:extLst>
                    <a:ext uri="{9D8B030D-6E8A-4147-A177-3AD203B41FA5}">
                      <a16:colId xmlns:a16="http://schemas.microsoft.com/office/drawing/2014/main" val="1543284086"/>
                    </a:ext>
                  </a:extLst>
                </a:gridCol>
                <a:gridCol w="1588301">
                  <a:extLst>
                    <a:ext uri="{9D8B030D-6E8A-4147-A177-3AD203B41FA5}">
                      <a16:colId xmlns:a16="http://schemas.microsoft.com/office/drawing/2014/main" val="370352016"/>
                    </a:ext>
                  </a:extLst>
                </a:gridCol>
                <a:gridCol w="1343549">
                  <a:extLst>
                    <a:ext uri="{9D8B030D-6E8A-4147-A177-3AD203B41FA5}">
                      <a16:colId xmlns:a16="http://schemas.microsoft.com/office/drawing/2014/main" val="1776859274"/>
                    </a:ext>
                  </a:extLst>
                </a:gridCol>
                <a:gridCol w="2071772">
                  <a:extLst>
                    <a:ext uri="{9D8B030D-6E8A-4147-A177-3AD203B41FA5}">
                      <a16:colId xmlns:a16="http://schemas.microsoft.com/office/drawing/2014/main" val="32876193"/>
                    </a:ext>
                  </a:extLst>
                </a:gridCol>
              </a:tblGrid>
              <a:tr h="283667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DICCIONARIO DE LA DIMENSIÓN PRODUCTO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41667"/>
                  </a:ext>
                </a:extLst>
              </a:tr>
              <a:tr h="28366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Atributo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Restricción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050687"/>
                  </a:ext>
                </a:extLst>
              </a:tr>
              <a:tr h="9310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productokey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PRIMARY KEY, 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Clave única de la dimensión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340509"/>
                  </a:ext>
                </a:extLst>
              </a:tr>
              <a:tr h="25493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categoría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 (50)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categoría a la que pertenece el producto (Bebidas, Platos típicos, Platos criollos, Combinados, Entradas, Sopas, Postres, Fuentes).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63005"/>
                  </a:ext>
                </a:extLst>
              </a:tr>
              <a:tr h="93101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tipo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 preparado (1) o no es preparado (0)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470823"/>
                  </a:ext>
                </a:extLst>
              </a:tr>
              <a:tr h="60734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precio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DECIMAL(10,2)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Precio del producto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936454"/>
                  </a:ext>
                </a:extLst>
              </a:tr>
              <a:tr h="60734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nombreProducto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NVARCHAR(200)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PE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 del producto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222" marR="68222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6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11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5EAC5-1048-5F39-EB2E-3B33C0EE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588D8D4-7DD4-ABB5-CD74-453F0012A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CE5201-19F9-2568-4A66-0959B27DD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781C55E-2888-273B-AD65-8B5418042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0A285D-A42C-AE35-C054-8C5350857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C4F6D670-5614-3DE8-6657-698429394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29D186F-F0C7-1092-A8AD-A2D2276686CB}"/>
              </a:ext>
            </a:extLst>
          </p:cNvPr>
          <p:cNvSpPr txBox="1"/>
          <p:nvPr/>
        </p:nvSpPr>
        <p:spPr>
          <a:xfrm>
            <a:off x="797972" y="3157207"/>
            <a:ext cx="3702579" cy="8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FFFF"/>
                </a:solidFill>
              </a:rPr>
              <a:t>Diccionario</a:t>
            </a:r>
            <a:r>
              <a:rPr lang="en-US" sz="2000" b="1" dirty="0">
                <a:solidFill>
                  <a:srgbClr val="FFFFFF"/>
                </a:solidFill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</a:rPr>
              <a:t>datos</a:t>
            </a:r>
            <a:endParaRPr lang="en-US" sz="2000" b="1" dirty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E1C06CB-78C7-8A70-B6CB-68A987A9E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515797"/>
              </p:ext>
            </p:extLst>
          </p:nvPr>
        </p:nvGraphicFramePr>
        <p:xfrm>
          <a:off x="5309435" y="816077"/>
          <a:ext cx="6816343" cy="4454013"/>
        </p:xfrm>
        <a:graphic>
          <a:graphicData uri="http://schemas.openxmlformats.org/drawingml/2006/table">
            <a:tbl>
              <a:tblPr firstRow="1" firstCol="1" bandRow="1"/>
              <a:tblGrid>
                <a:gridCol w="1512365">
                  <a:extLst>
                    <a:ext uri="{9D8B030D-6E8A-4147-A177-3AD203B41FA5}">
                      <a16:colId xmlns:a16="http://schemas.microsoft.com/office/drawing/2014/main" val="1107326851"/>
                    </a:ext>
                  </a:extLst>
                </a:gridCol>
                <a:gridCol w="1264466">
                  <a:extLst>
                    <a:ext uri="{9D8B030D-6E8A-4147-A177-3AD203B41FA5}">
                      <a16:colId xmlns:a16="http://schemas.microsoft.com/office/drawing/2014/main" val="1004424316"/>
                    </a:ext>
                  </a:extLst>
                </a:gridCol>
                <a:gridCol w="1647907">
                  <a:extLst>
                    <a:ext uri="{9D8B030D-6E8A-4147-A177-3AD203B41FA5}">
                      <a16:colId xmlns:a16="http://schemas.microsoft.com/office/drawing/2014/main" val="3042381553"/>
                    </a:ext>
                  </a:extLst>
                </a:gridCol>
                <a:gridCol w="2391605">
                  <a:extLst>
                    <a:ext uri="{9D8B030D-6E8A-4147-A177-3AD203B41FA5}">
                      <a16:colId xmlns:a16="http://schemas.microsoft.com/office/drawing/2014/main" val="195111048"/>
                    </a:ext>
                  </a:extLst>
                </a:gridCol>
              </a:tblGrid>
              <a:tr h="519429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DICCIONARIO DE LA DIMENSIÓN EMPLEADO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780" marR="82780" marT="41390" marB="413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178732"/>
                  </a:ext>
                </a:extLst>
              </a:tr>
              <a:tr h="7766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Atributo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Restricción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035223"/>
                  </a:ext>
                </a:extLst>
              </a:tr>
              <a:tr h="11905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empleadokey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PRIMARY KEY, NOT NULL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Clave única de la dimensión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1458"/>
                  </a:ext>
                </a:extLst>
              </a:tr>
              <a:tr h="7766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 (200)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Nombre completo del empleado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541108"/>
                  </a:ext>
                </a:extLst>
              </a:tr>
              <a:tr h="119059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fechacontratacion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DATE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Fecha de contratación del empleado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288" marR="120288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78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42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632DB-2AF6-3C7A-4E81-C4BA3D7C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6951A9A-B671-846A-F378-4376A431B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F5EF0E-80F4-C8F1-0919-005F53179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FC948A-602A-442F-584A-9702825B5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9D72AE-72CD-90D4-C67E-94D39CA9B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E9E2BC85-C9C8-4379-1E90-B7B7CA563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BD23B41-4D54-7CC0-BB4A-E2D8EEAC7987}"/>
              </a:ext>
            </a:extLst>
          </p:cNvPr>
          <p:cNvSpPr txBox="1"/>
          <p:nvPr/>
        </p:nvSpPr>
        <p:spPr>
          <a:xfrm>
            <a:off x="797972" y="3157207"/>
            <a:ext cx="3702579" cy="8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FFFF"/>
                </a:solidFill>
              </a:rPr>
              <a:t>Diccionario</a:t>
            </a:r>
            <a:r>
              <a:rPr lang="en-US" sz="2000" b="1" dirty="0">
                <a:solidFill>
                  <a:srgbClr val="FFFFFF"/>
                </a:solidFill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</a:rPr>
              <a:t>datos</a:t>
            </a:r>
            <a:endParaRPr lang="en-US" sz="2000" b="1" dirty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A21F06E-E3A7-0253-F564-89935A7BF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17212"/>
              </p:ext>
            </p:extLst>
          </p:nvPr>
        </p:nvGraphicFramePr>
        <p:xfrm>
          <a:off x="5309435" y="997602"/>
          <a:ext cx="6862918" cy="4552208"/>
        </p:xfrm>
        <a:graphic>
          <a:graphicData uri="http://schemas.openxmlformats.org/drawingml/2006/table">
            <a:tbl>
              <a:tblPr firstRow="1" firstCol="1" bandRow="1"/>
              <a:tblGrid>
                <a:gridCol w="1404933">
                  <a:extLst>
                    <a:ext uri="{9D8B030D-6E8A-4147-A177-3AD203B41FA5}">
                      <a16:colId xmlns:a16="http://schemas.microsoft.com/office/drawing/2014/main" val="935162194"/>
                    </a:ext>
                  </a:extLst>
                </a:gridCol>
                <a:gridCol w="1464724">
                  <a:extLst>
                    <a:ext uri="{9D8B030D-6E8A-4147-A177-3AD203B41FA5}">
                      <a16:colId xmlns:a16="http://schemas.microsoft.com/office/drawing/2014/main" val="673831758"/>
                    </a:ext>
                  </a:extLst>
                </a:gridCol>
                <a:gridCol w="1471499">
                  <a:extLst>
                    <a:ext uri="{9D8B030D-6E8A-4147-A177-3AD203B41FA5}">
                      <a16:colId xmlns:a16="http://schemas.microsoft.com/office/drawing/2014/main" val="1174374844"/>
                    </a:ext>
                  </a:extLst>
                </a:gridCol>
                <a:gridCol w="2521762">
                  <a:extLst>
                    <a:ext uri="{9D8B030D-6E8A-4147-A177-3AD203B41FA5}">
                      <a16:colId xmlns:a16="http://schemas.microsoft.com/office/drawing/2014/main" val="3030325515"/>
                    </a:ext>
                  </a:extLst>
                </a:gridCol>
              </a:tblGrid>
              <a:tr h="354361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DICCIONARIO DE LA DIMENSIÓN MESA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189151"/>
                  </a:ext>
                </a:extLst>
              </a:tr>
              <a:tr h="7587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Atributo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Restricción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48249"/>
                  </a:ext>
                </a:extLst>
              </a:tr>
              <a:tr h="116304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mesakey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PRIMARY KEY, 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Clave única de la dimensión y número de la mesa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916835"/>
                  </a:ext>
                </a:extLst>
              </a:tr>
              <a:tr h="7587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ubicacion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 (50)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Primer piso, segundo piso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78225"/>
                  </a:ext>
                </a:extLst>
              </a:tr>
              <a:tr h="35436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capacidad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Número de sillas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36855"/>
                  </a:ext>
                </a:extLst>
              </a:tr>
              <a:tr h="116304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estado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NVARCHAR(20)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NULL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Disponible, Fuera de servicio, reservada, ocupada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1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3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F10A61-D26C-ADBC-4E23-5E54E515097A}"/>
              </a:ext>
            </a:extLst>
          </p:cNvPr>
          <p:cNvSpPr txBox="1"/>
          <p:nvPr/>
        </p:nvSpPr>
        <p:spPr>
          <a:xfrm>
            <a:off x="1484669" y="1132802"/>
            <a:ext cx="47293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Dim_Tiempo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tiempokey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(PK)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Dim_Empleado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empleadokey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(PK)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Dim_Producto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productokey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(PK)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Dim_Cliente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clientekey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(PK)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Dim_Mesa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mesakey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(PK)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95431-9475-0FF9-54BD-CD87033B7223}"/>
              </a:ext>
            </a:extLst>
          </p:cNvPr>
          <p:cNvSpPr txBox="1"/>
          <p:nvPr/>
        </p:nvSpPr>
        <p:spPr>
          <a:xfrm>
            <a:off x="580102" y="496717"/>
            <a:ext cx="735452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Asignación de claves primarias a cada dimensión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AEF00E-0268-46C8-C1C1-FF9AC3576485}"/>
              </a:ext>
            </a:extLst>
          </p:cNvPr>
          <p:cNvSpPr txBox="1"/>
          <p:nvPr/>
        </p:nvSpPr>
        <p:spPr>
          <a:xfrm>
            <a:off x="580102" y="2838410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Identificando jerarquías analíticas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75017E-C021-1029-6849-E79D7744D5FA}"/>
              </a:ext>
            </a:extLst>
          </p:cNvPr>
          <p:cNvSpPr txBox="1"/>
          <p:nvPr/>
        </p:nvSpPr>
        <p:spPr>
          <a:xfrm>
            <a:off x="1484669" y="3563056"/>
            <a:ext cx="97634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DIM.Tiempo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Fecha → Año → Trimestre → Mes → Semana del Año → Día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DIM.Producto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Categoría principal → Tipo de Producto → Nombre de producto → Precio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DIM.Cliente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Nombre cliente 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DIM.Empleado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Nombre → fecha de contratación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DIM.Mesa</a:t>
            </a:r>
            <a:r>
              <a:rPr lang="es-ES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Ubicación → Numero → Capacidad → Estado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PE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FacVentas</a:t>
            </a:r>
            <a:r>
              <a:rPr lang="es-ES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PE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Ingresos Venta → Costo → Margen</a:t>
            </a:r>
            <a:endParaRPr lang="es-ES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06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B8C99FBC-B8CA-07B7-9104-A7428783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7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4CE6AA-C066-E087-12B4-EE0D2597EF61}"/>
              </a:ext>
            </a:extLst>
          </p:cNvPr>
          <p:cNvSpPr txBox="1"/>
          <p:nvPr/>
        </p:nvSpPr>
        <p:spPr>
          <a:xfrm>
            <a:off x="253518" y="2042315"/>
            <a:ext cx="4537669" cy="3082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 err="1"/>
              <a:t>Determinar</a:t>
            </a:r>
            <a:r>
              <a:rPr lang="en-US" sz="1400" b="1" dirty="0"/>
              <a:t> la </a:t>
            </a:r>
            <a:r>
              <a:rPr lang="en-US" sz="1400" b="1" dirty="0" err="1"/>
              <a:t>granularidad</a:t>
            </a:r>
            <a:r>
              <a:rPr lang="en-US" sz="1400" b="1" dirty="0"/>
              <a:t> de </a:t>
            </a:r>
            <a:r>
              <a:rPr lang="en-US" sz="1400" b="1" dirty="0" err="1"/>
              <a:t>cada</a:t>
            </a:r>
            <a:r>
              <a:rPr lang="en-US" sz="1400" b="1" dirty="0"/>
              <a:t> </a:t>
            </a:r>
            <a:r>
              <a:rPr lang="en-US" sz="1400" b="1" dirty="0" err="1"/>
              <a:t>dimensión</a:t>
            </a:r>
            <a:endParaRPr lang="en-US" sz="1400" b="1" dirty="0"/>
          </a:p>
          <a:p>
            <a:pPr marL="1143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effectLst/>
            </a:endParaRP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Dim_Tiempo</a:t>
            </a:r>
            <a:r>
              <a:rPr lang="en-US" sz="1400" b="1" dirty="0">
                <a:effectLst/>
              </a:rPr>
              <a:t>:</a:t>
            </a:r>
            <a:r>
              <a:rPr lang="en-US" sz="1400" dirty="0">
                <a:effectLst/>
              </a:rPr>
              <a:t> La </a:t>
            </a:r>
            <a:r>
              <a:rPr lang="en-US" sz="1400" dirty="0" err="1">
                <a:effectLst/>
              </a:rPr>
              <a:t>granularidad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por</a:t>
            </a:r>
            <a:r>
              <a:rPr lang="en-US" sz="1400" dirty="0">
                <a:effectLst/>
              </a:rPr>
              <a:t> día. Cada fila </a:t>
            </a:r>
            <a:r>
              <a:rPr lang="en-US" sz="1400" dirty="0" err="1">
                <a:effectLst/>
              </a:rPr>
              <a:t>representa</a:t>
            </a:r>
            <a:r>
              <a:rPr lang="en-US" sz="1400" dirty="0">
                <a:effectLst/>
              </a:rPr>
              <a:t> un día </a:t>
            </a:r>
            <a:r>
              <a:rPr lang="en-US" sz="1400" dirty="0" err="1">
                <a:effectLst/>
              </a:rPr>
              <a:t>único</a:t>
            </a:r>
            <a:r>
              <a:rPr lang="en-US" sz="1400" dirty="0">
                <a:effectLst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Dim_Producto</a:t>
            </a:r>
            <a:r>
              <a:rPr lang="en-US" sz="1400" dirty="0">
                <a:effectLst/>
              </a:rPr>
              <a:t>: La </a:t>
            </a:r>
            <a:r>
              <a:rPr lang="en-US" sz="1400" dirty="0" err="1">
                <a:effectLst/>
              </a:rPr>
              <a:t>granularidad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por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producto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específico</a:t>
            </a:r>
            <a:r>
              <a:rPr lang="en-US" sz="1400" dirty="0">
                <a:effectLst/>
              </a:rPr>
              <a:t>. Cada fila </a:t>
            </a:r>
            <a:r>
              <a:rPr lang="en-US" sz="1400" dirty="0" err="1">
                <a:effectLst/>
              </a:rPr>
              <a:t>representa</a:t>
            </a:r>
            <a:r>
              <a:rPr lang="en-US" sz="1400" dirty="0">
                <a:effectLst/>
              </a:rPr>
              <a:t> un </a:t>
            </a:r>
            <a:r>
              <a:rPr lang="en-US" sz="1400" dirty="0" err="1">
                <a:effectLst/>
              </a:rPr>
              <a:t>producto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único</a:t>
            </a:r>
            <a:r>
              <a:rPr lang="en-US" sz="1400" dirty="0">
                <a:effectLst/>
              </a:rPr>
              <a:t>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Dim_Cliente</a:t>
            </a:r>
            <a:r>
              <a:rPr lang="en-US" sz="1400" b="1" dirty="0">
                <a:effectLst/>
              </a:rPr>
              <a:t>:</a:t>
            </a:r>
            <a:r>
              <a:rPr lang="en-US" sz="1400" dirty="0">
                <a:effectLst/>
              </a:rPr>
              <a:t> La </a:t>
            </a:r>
            <a:r>
              <a:rPr lang="en-US" sz="1400" dirty="0" err="1">
                <a:effectLst/>
              </a:rPr>
              <a:t>granularidad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por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cliente</a:t>
            </a:r>
            <a:r>
              <a:rPr lang="en-US" sz="1400" dirty="0">
                <a:effectLst/>
              </a:rPr>
              <a:t> individual. Cada fila </a:t>
            </a:r>
            <a:r>
              <a:rPr lang="en-US" sz="1400" dirty="0" err="1">
                <a:effectLst/>
              </a:rPr>
              <a:t>representa</a:t>
            </a:r>
            <a:r>
              <a:rPr lang="en-US" sz="1400" dirty="0">
                <a:effectLst/>
              </a:rPr>
              <a:t> un </a:t>
            </a:r>
            <a:r>
              <a:rPr lang="en-US" sz="1400" dirty="0" err="1">
                <a:effectLst/>
              </a:rPr>
              <a:t>cliente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único</a:t>
            </a:r>
            <a:r>
              <a:rPr lang="en-US" sz="1400" dirty="0">
                <a:effectLst/>
              </a:rPr>
              <a:t>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Dim_Empleado</a:t>
            </a:r>
            <a:r>
              <a:rPr lang="en-US" sz="1400" b="1" dirty="0">
                <a:effectLst/>
              </a:rPr>
              <a:t>:</a:t>
            </a:r>
            <a:r>
              <a:rPr lang="en-US" sz="1400" dirty="0">
                <a:effectLst/>
              </a:rPr>
              <a:t> La </a:t>
            </a:r>
            <a:r>
              <a:rPr lang="en-US" sz="1400" dirty="0" err="1">
                <a:effectLst/>
              </a:rPr>
              <a:t>granularidad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por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empleado</a:t>
            </a:r>
            <a:r>
              <a:rPr lang="en-US" sz="1400" dirty="0">
                <a:effectLst/>
              </a:rPr>
              <a:t> individual. Cada fila </a:t>
            </a:r>
            <a:r>
              <a:rPr lang="en-US" sz="1400" dirty="0" err="1">
                <a:effectLst/>
              </a:rPr>
              <a:t>representa</a:t>
            </a:r>
            <a:r>
              <a:rPr lang="en-US" sz="1400" dirty="0">
                <a:effectLst/>
              </a:rPr>
              <a:t> un </a:t>
            </a:r>
            <a:r>
              <a:rPr lang="en-US" sz="1400" dirty="0" err="1">
                <a:effectLst/>
              </a:rPr>
              <a:t>empleado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único</a:t>
            </a:r>
            <a:r>
              <a:rPr lang="en-US" sz="1400" dirty="0">
                <a:effectLst/>
              </a:rPr>
              <a:t>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Dim_Mesa</a:t>
            </a:r>
            <a:r>
              <a:rPr lang="en-US" sz="1400" b="1" dirty="0">
                <a:effectLst/>
              </a:rPr>
              <a:t>:</a:t>
            </a:r>
            <a:r>
              <a:rPr lang="en-US" sz="1400" dirty="0">
                <a:effectLst/>
              </a:rPr>
              <a:t> La </a:t>
            </a:r>
            <a:r>
              <a:rPr lang="en-US" sz="1400" dirty="0" err="1">
                <a:effectLst/>
              </a:rPr>
              <a:t>granularidad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por</a:t>
            </a:r>
            <a:r>
              <a:rPr lang="en-US" sz="1400" dirty="0">
                <a:effectLst/>
              </a:rPr>
              <a:t> mesa individual. Cada fila </a:t>
            </a:r>
            <a:r>
              <a:rPr lang="en-US" sz="1400" dirty="0" err="1">
                <a:effectLst/>
              </a:rPr>
              <a:t>representa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una</a:t>
            </a:r>
            <a:r>
              <a:rPr lang="en-US" sz="1400" dirty="0">
                <a:effectLst/>
              </a:rPr>
              <a:t> mesa </a:t>
            </a:r>
            <a:r>
              <a:rPr lang="en-US" sz="1400" dirty="0" err="1">
                <a:effectLst/>
              </a:rPr>
              <a:t>única</a:t>
            </a:r>
            <a:r>
              <a:rPr lang="en-US" sz="14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961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772B9C2F-BCE1-80D7-35AA-238D8022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35" r="541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3E8AC2-FEA3-EE67-25A9-A55EE9787DC0}"/>
              </a:ext>
            </a:extLst>
          </p:cNvPr>
          <p:cNvSpPr txBox="1"/>
          <p:nvPr/>
        </p:nvSpPr>
        <p:spPr>
          <a:xfrm>
            <a:off x="727668" y="2227035"/>
            <a:ext cx="5368332" cy="220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 </a:t>
            </a:r>
            <a:r>
              <a:rPr lang="en-US" b="1" dirty="0" err="1"/>
              <a:t>Medidas</a:t>
            </a:r>
            <a:r>
              <a:rPr lang="en-US" b="1" dirty="0"/>
              <a:t> del </a:t>
            </a:r>
            <a:r>
              <a:rPr lang="en-US" b="1" dirty="0" err="1"/>
              <a:t>negocio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las </a:t>
            </a:r>
            <a:r>
              <a:rPr lang="en-US" b="1" dirty="0" err="1"/>
              <a:t>tablas</a:t>
            </a:r>
            <a:r>
              <a:rPr lang="en-US" b="1" dirty="0"/>
              <a:t> de </a:t>
            </a:r>
            <a:r>
              <a:rPr lang="en-US" b="1" dirty="0" err="1"/>
              <a:t>hechos</a:t>
            </a:r>
            <a:endParaRPr lang="en-US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Ingresos</a:t>
            </a:r>
            <a:r>
              <a:rPr lang="en-US" dirty="0"/>
              <a:t> </a:t>
            </a:r>
            <a:r>
              <a:rPr lang="en-US" dirty="0" err="1"/>
              <a:t>totales</a:t>
            </a:r>
            <a:endParaRPr lang="en-US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ventas</a:t>
            </a:r>
            <a:endParaRPr lang="en-US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Venta </a:t>
            </a:r>
            <a:r>
              <a:rPr lang="en-US" dirty="0" err="1"/>
              <a:t>completa</a:t>
            </a:r>
            <a:endParaRPr lang="en-US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Costo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Margen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1" dirty="0">
              <a:effectLst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03773-9942-F9D5-2094-8C548A69CC1B}"/>
              </a:ext>
            </a:extLst>
          </p:cNvPr>
          <p:cNvSpPr txBox="1"/>
          <p:nvPr/>
        </p:nvSpPr>
        <p:spPr>
          <a:xfrm>
            <a:off x="727668" y="1585502"/>
            <a:ext cx="609600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 err="1"/>
              <a:t>Definir</a:t>
            </a:r>
            <a:r>
              <a:rPr lang="en-US" sz="2400" b="1" dirty="0"/>
              <a:t> la </a:t>
            </a:r>
            <a:r>
              <a:rPr lang="en-US" sz="2400" b="1" dirty="0" err="1"/>
              <a:t>tabla</a:t>
            </a:r>
            <a:r>
              <a:rPr lang="en-US" sz="2400" b="1" dirty="0"/>
              <a:t> de </a:t>
            </a:r>
            <a:r>
              <a:rPr lang="en-US" sz="2400" b="1" dirty="0" err="1"/>
              <a:t>hechos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113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990337-D347-A16E-E524-B923E818652F}"/>
              </a:ext>
            </a:extLst>
          </p:cNvPr>
          <p:cNvSpPr txBox="1"/>
          <p:nvPr/>
        </p:nvSpPr>
        <p:spPr>
          <a:xfrm>
            <a:off x="3165987" y="801993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Granularidad de la tabla de hechos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C081CBFC-E502-6340-3B1E-409246A93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7817794"/>
              </p:ext>
            </p:extLst>
          </p:nvPr>
        </p:nvGraphicFramePr>
        <p:xfrm>
          <a:off x="2546554" y="1974629"/>
          <a:ext cx="7334865" cy="4197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18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E596104-B814-5F76-5A9A-183F2A118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857" y="914400"/>
            <a:ext cx="7622963" cy="57934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AD5AEA8-CE7F-1A31-9EA6-E41DD114B759}"/>
              </a:ext>
            </a:extLst>
          </p:cNvPr>
          <p:cNvSpPr txBox="1"/>
          <p:nvPr/>
        </p:nvSpPr>
        <p:spPr>
          <a:xfrm>
            <a:off x="786580" y="4671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dimensional estrella o copo de nieve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67099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670F-5191-1019-7143-73BE83C3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B46CA-7236-25C0-0743-5A424973B95F}"/>
              </a:ext>
            </a:extLst>
          </p:cNvPr>
          <p:cNvSpPr txBox="1"/>
          <p:nvPr/>
        </p:nvSpPr>
        <p:spPr>
          <a:xfrm>
            <a:off x="707922" y="358952"/>
            <a:ext cx="4178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Diseño físico modelo dimensional</a:t>
            </a:r>
            <a:endParaRPr lang="es-ES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4AF18E-A771-DFDD-E7C4-1783C1BBA3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6" b="7227"/>
          <a:stretch>
            <a:fillRect/>
          </a:stretch>
        </p:blipFill>
        <p:spPr bwMode="auto">
          <a:xfrm>
            <a:off x="894735" y="836439"/>
            <a:ext cx="9685645" cy="59567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7210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71E643-8A25-69BA-455D-A0C024BCF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30" y="883644"/>
            <a:ext cx="10291718" cy="57065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F4A991F-5D63-E0B3-5F75-6BA7657B4525}"/>
              </a:ext>
            </a:extLst>
          </p:cNvPr>
          <p:cNvSpPr txBox="1"/>
          <p:nvPr/>
        </p:nvSpPr>
        <p:spPr>
          <a:xfrm>
            <a:off x="786580" y="467107"/>
            <a:ext cx="4178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Diseño físico modelo dimensional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916695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87CF05AE-9632-AB87-8B1C-9847B09B3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433144"/>
              </p:ext>
            </p:extLst>
          </p:nvPr>
        </p:nvGraphicFramePr>
        <p:xfrm>
          <a:off x="6095999" y="75221"/>
          <a:ext cx="5128009" cy="6741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17926" imgH="6956981" progId="Excel.Sheet.12">
                  <p:embed/>
                </p:oleObj>
              </mc:Choice>
              <mc:Fallback>
                <p:oleObj name="Worksheet" r:id="rId2" imgW="5417926" imgH="6956981" progId="Excel.Shee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9" y="75221"/>
                        <a:ext cx="5128009" cy="6741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93C6B0D-2DC1-7EF9-2A0E-CCFF75277462}"/>
              </a:ext>
            </a:extLst>
          </p:cNvPr>
          <p:cNvSpPr txBox="1"/>
          <p:nvPr/>
        </p:nvSpPr>
        <p:spPr>
          <a:xfrm>
            <a:off x="887064" y="3244334"/>
            <a:ext cx="4178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Diseño físico modelo dimensional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90998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3A2E32-B1ED-4686-B65F-6BA599795C51}"/>
              </a:ext>
            </a:extLst>
          </p:cNvPr>
          <p:cNvSpPr txBox="1"/>
          <p:nvPr/>
        </p:nvSpPr>
        <p:spPr>
          <a:xfrm>
            <a:off x="3195484" y="159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Creación de la base de datos dimensional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00B35C-B5A3-1B9A-583E-1BA9D6EF5DA6}"/>
              </a:ext>
            </a:extLst>
          </p:cNvPr>
          <p:cNvSpPr txBox="1"/>
          <p:nvPr/>
        </p:nvSpPr>
        <p:spPr>
          <a:xfrm>
            <a:off x="334297" y="1355934"/>
            <a:ext cx="4614139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DATABASE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SCHEMA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DIM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ABBD0D2-F265-3899-2884-EB7A392D17A6}"/>
              </a:ext>
            </a:extLst>
          </p:cNvPr>
          <p:cNvSpPr txBox="1"/>
          <p:nvPr/>
        </p:nvSpPr>
        <p:spPr>
          <a:xfrm>
            <a:off x="5584723" y="786547"/>
            <a:ext cx="6469625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300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58A31CA-0AF9-F35F-7301-C3879F31779F}"/>
              </a:ext>
            </a:extLst>
          </p:cNvPr>
          <p:cNvSpPr txBox="1"/>
          <p:nvPr/>
        </p:nvSpPr>
        <p:spPr>
          <a:xfrm>
            <a:off x="5584723" y="1981602"/>
            <a:ext cx="627298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ubicacion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50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capacidad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estado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A11A38-4044-87FF-94BA-C782EDAACF09}"/>
              </a:ext>
            </a:extLst>
          </p:cNvPr>
          <p:cNvSpPr txBox="1"/>
          <p:nvPr/>
        </p:nvSpPr>
        <p:spPr>
          <a:xfrm>
            <a:off x="5584723" y="3684488"/>
            <a:ext cx="7236542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200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fechaContratacion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E32ED2D-C789-8D08-0336-177B29260AAC}"/>
              </a:ext>
            </a:extLst>
          </p:cNvPr>
          <p:cNvSpPr txBox="1"/>
          <p:nvPr/>
        </p:nvSpPr>
        <p:spPr>
          <a:xfrm>
            <a:off x="5584723" y="4879543"/>
            <a:ext cx="6469625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categoria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50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tipo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precio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DECIMAL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nombreProducto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200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NULL);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FC69CE1-EF08-68AC-9234-8A574F7787B4}"/>
              </a:ext>
            </a:extLst>
          </p:cNvPr>
          <p:cNvSpPr txBox="1"/>
          <p:nvPr/>
        </p:nvSpPr>
        <p:spPr>
          <a:xfrm>
            <a:off x="356555" y="3076629"/>
            <a:ext cx="522816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anio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trimestre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nombreTrimestre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nombreMes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50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semanaAnio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diaAnio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diaMes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diaSemana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nombreDia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NVARCHAR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50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90582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25C5B-9135-6325-308C-240D4505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A64AC0F-3589-D016-B7BB-9DDBA404C9FA}"/>
              </a:ext>
            </a:extLst>
          </p:cNvPr>
          <p:cNvSpPr txBox="1"/>
          <p:nvPr/>
        </p:nvSpPr>
        <p:spPr>
          <a:xfrm>
            <a:off x="992628" y="1281496"/>
            <a:ext cx="10684746" cy="462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FactVentas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ventakey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ingresosVenta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numeroVentas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ventaCompletas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margen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MONEY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CONSTRAINT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clienteFK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CONSTRAINT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mesaFK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CONSTRAINT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empleadoFK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CONSTRAINT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productoFK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CONSTRAINT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tiempoFK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s-ES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A10CC5-C003-23E3-440D-81E154FA6A99}"/>
              </a:ext>
            </a:extLst>
          </p:cNvPr>
          <p:cNvSpPr txBox="1"/>
          <p:nvPr/>
        </p:nvSpPr>
        <p:spPr>
          <a:xfrm>
            <a:off x="3195484" y="159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Creación de la base de datos dimensional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0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0E00E-3E67-8E94-72F2-9596C953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E217C9F-0CE3-5AAF-C52D-DAD1656D9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58" y="245345"/>
            <a:ext cx="8181883" cy="63673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754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3793B-A0F3-B7B3-FE0D-69B0F669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FF6245-B762-23FD-E5C9-F1C0B7D9A22F}"/>
              </a:ext>
            </a:extLst>
          </p:cNvPr>
          <p:cNvSpPr txBox="1"/>
          <p:nvPr/>
        </p:nvSpPr>
        <p:spPr>
          <a:xfrm>
            <a:off x="633418" y="1720645"/>
            <a:ext cx="5826375" cy="2477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 b="1" dirty="0">
                <a:effectLst/>
                <a:latin typeface="+mj-lt"/>
                <a:ea typeface="+mj-ea"/>
                <a:cs typeface="+mj-cs"/>
              </a:rPr>
              <a:t>CAP 5. </a:t>
            </a:r>
            <a:r>
              <a:rPr lang="es-PE" sz="5700" b="1" dirty="0"/>
              <a:t>PROCESO DE EXTRACCION, TRANSFORMACION Y CARGA DE DATOS (ETL)</a:t>
            </a:r>
            <a:endParaRPr lang="es-ES" sz="5700" b="1" dirty="0"/>
          </a:p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Formas y patrones coloridos">
            <a:extLst>
              <a:ext uri="{FF2B5EF4-FFF2-40B4-BE49-F238E27FC236}">
                <a16:creationId xmlns:a16="http://schemas.microsoft.com/office/drawing/2014/main" id="{C3629215-E917-A42D-48C3-D85E1E11F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46" r="2241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1436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5C717-6B39-E299-6F4F-3C8A0EBE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1240349-81A7-AF30-7FA8-D14CFF009BE3}"/>
              </a:ext>
            </a:extLst>
          </p:cNvPr>
          <p:cNvSpPr txBox="1"/>
          <p:nvPr/>
        </p:nvSpPr>
        <p:spPr>
          <a:xfrm>
            <a:off x="275302" y="380061"/>
            <a:ext cx="810178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Diseño de la arquitectura (Infraestructura: Servidores, Equipos)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uadroTexto 7">
            <a:extLst>
              <a:ext uri="{FF2B5EF4-FFF2-40B4-BE49-F238E27FC236}">
                <a16:creationId xmlns:a16="http://schemas.microsoft.com/office/drawing/2014/main" id="{77F64884-3AEB-87BF-BD8D-6E309C4E3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81175"/>
              </p:ext>
            </p:extLst>
          </p:nvPr>
        </p:nvGraphicFramePr>
        <p:xfrm>
          <a:off x="830322" y="1531225"/>
          <a:ext cx="10531355" cy="3795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88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0D7A4-E362-0FDF-DCFC-FD77E74D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832671D7-BBDF-8EF4-73FE-F03F4F856275}"/>
              </a:ext>
            </a:extLst>
          </p:cNvPr>
          <p:cNvSpPr txBox="1"/>
          <p:nvPr/>
        </p:nvSpPr>
        <p:spPr>
          <a:xfrm>
            <a:off x="70290" y="880512"/>
            <a:ext cx="4430262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Diseño</a:t>
            </a:r>
            <a:r>
              <a:rPr lang="en-US" sz="27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 la </a:t>
            </a:r>
            <a:r>
              <a:rPr lang="en-US" sz="27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arquitectura</a:t>
            </a:r>
            <a:r>
              <a:rPr lang="en-US" sz="27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(</a:t>
            </a:r>
            <a:r>
              <a:rPr lang="en-US" sz="27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Infraestructura</a:t>
            </a:r>
            <a:r>
              <a:rPr lang="en-US" sz="27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: </a:t>
            </a:r>
            <a:r>
              <a:rPr lang="en-US" sz="27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Servidores</a:t>
            </a:r>
            <a:r>
              <a:rPr lang="en-US" sz="27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</a:t>
            </a:r>
            <a:r>
              <a:rPr lang="en-US" sz="27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Equipos</a:t>
            </a:r>
            <a:r>
              <a:rPr lang="en-US" sz="27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33A128-B12B-331A-852C-2E3F3BA02EAB}"/>
              </a:ext>
            </a:extLst>
          </p:cNvPr>
          <p:cNvSpPr txBox="1"/>
          <p:nvPr/>
        </p:nvSpPr>
        <p:spPr>
          <a:xfrm>
            <a:off x="538253" y="2922116"/>
            <a:ext cx="4430262" cy="35248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2000" dirty="0" err="1">
                <a:solidFill>
                  <a:srgbClr val="FFFFFF"/>
                </a:solidFill>
                <a:effectLst/>
              </a:rPr>
              <a:t>Características</a:t>
            </a:r>
            <a:r>
              <a:rPr lang="en-US" sz="2000" dirty="0">
                <a:solidFill>
                  <a:srgbClr val="FFFFFF"/>
                </a:solidFill>
                <a:effectLst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los</a:t>
            </a:r>
            <a:r>
              <a:rPr lang="en-US" sz="2000" dirty="0">
                <a:solidFill>
                  <a:srgbClr val="FFFFFF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recursos</a:t>
            </a:r>
            <a:r>
              <a:rPr lang="en-US" sz="2000" dirty="0">
                <a:solidFill>
                  <a:srgbClr val="FFFFFF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utilizados</a:t>
            </a:r>
            <a:r>
              <a:rPr lang="en-US" sz="2000" dirty="0">
                <a:solidFill>
                  <a:srgbClr val="FFFFFF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en</a:t>
            </a:r>
            <a:r>
              <a:rPr lang="en-US" sz="2000" dirty="0">
                <a:solidFill>
                  <a:srgbClr val="FFFFFF"/>
                </a:solidFill>
                <a:effectLst/>
              </a:rPr>
              <a:t> la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implementación</a:t>
            </a:r>
            <a:r>
              <a:rPr lang="en-US" sz="2000" dirty="0">
                <a:solidFill>
                  <a:srgbClr val="FFFFFF"/>
                </a:solidFill>
                <a:effectLst/>
              </a:rPr>
              <a:t> del DATAMART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ffectLst/>
              </a:rPr>
              <a:t>Hardware: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Computadora</a:t>
            </a:r>
            <a:r>
              <a:rPr lang="en-US" sz="2000" dirty="0">
                <a:solidFill>
                  <a:srgbClr val="FFFFFF"/>
                </a:solidFill>
                <a:effectLst/>
              </a:rPr>
              <a:t> personal.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  <a:effectLst/>
              </a:rPr>
              <a:t>Servidores</a:t>
            </a:r>
            <a:r>
              <a:rPr lang="en-US" sz="2000" dirty="0">
                <a:solidFill>
                  <a:srgbClr val="FFFFFF"/>
                </a:solidFill>
                <a:effectLst/>
              </a:rPr>
              <a:t>: </a:t>
            </a:r>
            <a:r>
              <a:rPr lang="en-US" sz="2000" dirty="0" err="1">
                <a:solidFill>
                  <a:srgbClr val="FFFFFF"/>
                </a:solidFill>
                <a:effectLst/>
              </a:rPr>
              <a:t>Computadora</a:t>
            </a:r>
            <a:r>
              <a:rPr lang="en-US" sz="2000" dirty="0">
                <a:solidFill>
                  <a:srgbClr val="FFFFFF"/>
                </a:solidFill>
                <a:effectLst/>
              </a:rPr>
              <a:t> personal.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ffectLst/>
              </a:rPr>
              <a:t>SQL Server Analysis Services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ffectLst/>
              </a:rPr>
              <a:t>Power BI</a:t>
            </a:r>
          </a:p>
          <a:p>
            <a:pPr marL="114300" lvl="0">
              <a:lnSpc>
                <a:spcPct val="90000"/>
              </a:lnSpc>
            </a:pPr>
            <a:endParaRPr lang="en-US" sz="2000" dirty="0">
              <a:solidFill>
                <a:srgbClr val="FFFFFF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s-PE" sz="2100" dirty="0">
                <a:solidFill>
                  <a:srgbClr val="FFFFFF"/>
                </a:solidFill>
              </a:rPr>
              <a:t>Características de los recursos utilizados en la implementación del DATAMART</a:t>
            </a:r>
            <a:endParaRPr lang="es-ES" sz="2100" dirty="0">
              <a:solidFill>
                <a:srgbClr val="FFFFFF"/>
              </a:solidFill>
            </a:endParaRP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PE" sz="2100" dirty="0">
                <a:solidFill>
                  <a:srgbClr val="FFFFFF"/>
                </a:solidFill>
              </a:rPr>
              <a:t>Hardware: Computadora personal.</a:t>
            </a:r>
            <a:endParaRPr lang="es-ES" sz="2100" dirty="0">
              <a:solidFill>
                <a:srgbClr val="FFFFFF"/>
              </a:solidFill>
            </a:endParaRP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PE" sz="2100" dirty="0">
                <a:solidFill>
                  <a:srgbClr val="FFFFFF"/>
                </a:solidFill>
              </a:rPr>
              <a:t>Servidores: Computadora personal.</a:t>
            </a:r>
            <a:endParaRPr lang="es-ES" sz="2100" dirty="0">
              <a:solidFill>
                <a:srgbClr val="FFFFFF"/>
              </a:solidFill>
            </a:endParaRP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PE" sz="2100" dirty="0">
                <a:solidFill>
                  <a:srgbClr val="FFFFFF"/>
                </a:solidFill>
              </a:rPr>
              <a:t>SQL Server </a:t>
            </a:r>
            <a:r>
              <a:rPr lang="es-PE" sz="2100" dirty="0" err="1">
                <a:solidFill>
                  <a:srgbClr val="FFFFFF"/>
                </a:solidFill>
              </a:rPr>
              <a:t>Analysis</a:t>
            </a:r>
            <a:r>
              <a:rPr lang="es-PE" sz="2100" dirty="0">
                <a:solidFill>
                  <a:srgbClr val="FFFFFF"/>
                </a:solidFill>
              </a:rPr>
              <a:t> </a:t>
            </a:r>
            <a:r>
              <a:rPr lang="es-PE" sz="2100" dirty="0" err="1">
                <a:solidFill>
                  <a:srgbClr val="FFFFFF"/>
                </a:solidFill>
              </a:rPr>
              <a:t>Services</a:t>
            </a:r>
            <a:endParaRPr lang="es-ES" sz="2100" dirty="0">
              <a:solidFill>
                <a:srgbClr val="FFFFFF"/>
              </a:solidFill>
            </a:endParaRP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PE" sz="2100" dirty="0" err="1">
                <a:solidFill>
                  <a:srgbClr val="FFFFFF"/>
                </a:solidFill>
              </a:rPr>
              <a:t>Power</a:t>
            </a:r>
            <a:r>
              <a:rPr lang="es-PE" sz="2100" dirty="0">
                <a:solidFill>
                  <a:srgbClr val="FFFFFF"/>
                </a:solidFill>
              </a:rPr>
              <a:t> BI</a:t>
            </a:r>
            <a:endParaRPr lang="es-ES" sz="2100" dirty="0">
              <a:solidFill>
                <a:srgbClr val="FFFFFF"/>
              </a:solidFill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effectLst/>
            </a:endParaRPr>
          </a:p>
        </p:txBody>
      </p:sp>
      <p:pic>
        <p:nvPicPr>
          <p:cNvPr id="8" name="Graphic 9" descr="Servidor">
            <a:extLst>
              <a:ext uri="{FF2B5EF4-FFF2-40B4-BE49-F238E27FC236}">
                <a16:creationId xmlns:a16="http://schemas.microsoft.com/office/drawing/2014/main" id="{B101065F-24FF-38DA-05F0-F15E67B5D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7208" y="880512"/>
            <a:ext cx="4736517" cy="473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6A3ADB1-5B42-51C3-5180-465EAB617445}"/>
              </a:ext>
            </a:extLst>
          </p:cNvPr>
          <p:cNvSpPr txBox="1"/>
          <p:nvPr/>
        </p:nvSpPr>
        <p:spPr>
          <a:xfrm>
            <a:off x="934065" y="643072"/>
            <a:ext cx="6096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Origen fuente: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RestauranteDBasePrueba5m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Destino: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RestauranteMart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79AEC3-E22B-57FA-54B4-097917FC4441}"/>
              </a:ext>
            </a:extLst>
          </p:cNvPr>
          <p:cNvSpPr txBox="1"/>
          <p:nvPr/>
        </p:nvSpPr>
        <p:spPr>
          <a:xfrm>
            <a:off x="501446" y="216326"/>
            <a:ext cx="231058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Extracción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2644D1-E1CB-831C-72E7-58CE7399D894}"/>
              </a:ext>
            </a:extLst>
          </p:cNvPr>
          <p:cNvSpPr txBox="1"/>
          <p:nvPr/>
        </p:nvSpPr>
        <p:spPr>
          <a:xfrm>
            <a:off x="934065" y="1717722"/>
            <a:ext cx="535858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--## 1. CONSULTA PARA </a:t>
            </a:r>
            <a:r>
              <a:rPr lang="es-PE" sz="1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DIM.Cliente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Nombres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ApellidoPaterno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ApellidoMaterno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nombres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5A50AE-2523-FCAF-F23A-FAD981DABD84}"/>
              </a:ext>
            </a:extLst>
          </p:cNvPr>
          <p:cNvSpPr txBox="1"/>
          <p:nvPr/>
        </p:nvSpPr>
        <p:spPr>
          <a:xfrm>
            <a:off x="934065" y="3143679"/>
            <a:ext cx="43360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--## 2. CONSULTA PARA </a:t>
            </a:r>
            <a:r>
              <a:rPr lang="es-PE" sz="1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DIM.Mesa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Ubicacion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ubicacion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Capacidad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capacidad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Estado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estado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GENERAL</a:t>
            </a:r>
            <a:r>
              <a:rPr lang="es-PE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F626D0-A2DA-B7E7-83D6-2B859FD7F3BC}"/>
              </a:ext>
            </a:extLst>
          </p:cNvPr>
          <p:cNvSpPr txBox="1"/>
          <p:nvPr/>
        </p:nvSpPr>
        <p:spPr>
          <a:xfrm>
            <a:off x="934065" y="4608108"/>
            <a:ext cx="609600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--## 3. CONSULTA PARA </a:t>
            </a:r>
            <a:r>
              <a:rPr lang="es-PE" sz="1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DIM.Empleado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NombreCompleto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nombre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FechaContratacion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fechaContratacion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PERSONAL</a:t>
            </a:r>
            <a:r>
              <a:rPr lang="es-PE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</a:t>
            </a:r>
            <a:endParaRPr lang="es-ES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CBE036-C5E1-C744-3D4D-E9CBC8460FD8}"/>
              </a:ext>
            </a:extLst>
          </p:cNvPr>
          <p:cNvSpPr txBox="1"/>
          <p:nvPr/>
        </p:nvSpPr>
        <p:spPr>
          <a:xfrm>
            <a:off x="6479458" y="1650490"/>
            <a:ext cx="5043948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--## 5. CONSULTA PARA </a:t>
            </a:r>
            <a:r>
              <a:rPr lang="es-PE" sz="1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DIM.Tiempo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Fecha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fecha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s-PE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anio</a:t>
            </a:r>
            <a:r>
              <a:rPr lang="es-PE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QUARTER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trimestre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QUARTER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'Q1'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'Q2'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'Q3'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4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'Q4'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nombreTrimestre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nombreMes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semanaAnio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DAYOFYEAR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diaAnio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DAY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diaMes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diaSemana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nombreDia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TRANSACCION</a:t>
            </a:r>
            <a:r>
              <a:rPr lang="en-US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Pedido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097039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AC8D8-4327-EF29-5C33-E3EC59C8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061B9430-DEC3-F6D9-33EA-7CCDE42E1A09}"/>
              </a:ext>
            </a:extLst>
          </p:cNvPr>
          <p:cNvSpPr txBox="1"/>
          <p:nvPr/>
        </p:nvSpPr>
        <p:spPr>
          <a:xfrm>
            <a:off x="344128" y="581072"/>
            <a:ext cx="848524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--## 6. CONSULTA PARA </a:t>
            </a:r>
            <a:r>
              <a:rPr lang="es-PE" sz="9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FactVentas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WITH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ProductoCosto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productoid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ISNULL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ISNULL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inv_ing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CostoPorUnidad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ISNULL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pg_ing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0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CostoCalculadoIngredientes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ISNULL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ISNULL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inv_direct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CostoPorUnidad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0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CostoDirectoProducto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[GENERAL]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p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LEFT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[GENERAL]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ProductoIngrediente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pg_ing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pg_ing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LEFT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[INVENTARIO]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Inventario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inv_ing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pg_ing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Id_Item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inv_ing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Id_Item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LEFT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[INVENTARIO]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Inventario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inv_direct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inv_direct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ItemNombre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GROUP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clientekey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dm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mesakey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</a:t>
            </a:r>
            <a:r>
              <a:rPr lang="es-E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empleadokey</a:t>
            </a:r>
            <a:r>
              <a:rPr lang="es-E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E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E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productokey</a:t>
            </a:r>
            <a:r>
              <a:rPr lang="es-E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s-E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E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dt</a:t>
            </a:r>
            <a:r>
              <a:rPr lang="es-E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E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s-E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E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Precio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ingresosVenta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numeroVentas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1931C0D-4928-DEC5-81D8-5A8FBDCD74AE}"/>
              </a:ext>
            </a:extLst>
          </p:cNvPr>
          <p:cNvSpPr txBox="1"/>
          <p:nvPr/>
        </p:nvSpPr>
        <p:spPr>
          <a:xfrm>
            <a:off x="344128" y="198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 </a:t>
            </a:r>
            <a:r>
              <a:rPr lang="es-P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multitabla</a:t>
            </a: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la tabla de hechos</a:t>
            </a:r>
            <a:endParaRPr lang="es-ES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156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5AF4A-88F7-FEF4-8017-9C1CD5AF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0A7D4113-76DD-B14D-7672-547B339EA292}"/>
              </a:ext>
            </a:extLst>
          </p:cNvPr>
          <p:cNvSpPr txBox="1"/>
          <p:nvPr/>
        </p:nvSpPr>
        <p:spPr>
          <a:xfrm>
            <a:off x="314632" y="294967"/>
            <a:ext cx="9016181" cy="6070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Estado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'Completado'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ventaCompletas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CostoCalculadoIngredientes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CostoDirectoProducto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costo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Precio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Cantidad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CostoCalculadoIngredientes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CostoDirectoProducto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margen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[TRANSACCION]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DetallePedido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[GENERAL]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[Producto] p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[GENERAL]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Categoria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Id_Categoria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Id_Categoria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[TRANSACCION]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[Pedido] pe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Id_Pedido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Id_Pedido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LEFT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ProductoCosto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pc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Id_Producto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productoid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[CLIENTE]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c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Id_Cliente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Id_Cliente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[PERSONAL]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e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Id_Empleado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Id_Empleado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[RestauranteDBasePrueba5m]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[GENERAL]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[Mesa] m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Id_Mesa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Id_Mesa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Cliente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dc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Nombres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ApellidoPaterno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ApellidoMaterno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dc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nombres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Mesa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dm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Ubicacion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ubicacion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Capacidad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capacidad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Estado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estado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Empleado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NombreCompleto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nombreProducto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Nombre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categoria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EsPreparado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tipo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Precio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s-PE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dp_dim</a:t>
            </a:r>
            <a:r>
              <a:rPr lang="es-PE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s-PE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precio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INNER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RestauranteMart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DIM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dt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CAST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CAST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dt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fecha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DATE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</a:t>
            </a:r>
            <a:endParaRPr lang="es-ES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ORDER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dt</a:t>
            </a:r>
            <a:r>
              <a:rPr lang="en-US" sz="9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tiempokey</a:t>
            </a: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s-ES" sz="900" dirty="0"/>
          </a:p>
        </p:txBody>
      </p:sp>
    </p:spTree>
    <p:extLst>
      <p:ext uri="{BB962C8B-B14F-4D97-AF65-F5344CB8AC3E}">
        <p14:creationId xmlns:p14="http://schemas.microsoft.com/office/powerpoint/2010/main" val="2338506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A6E1D-66B1-BE51-5FE0-FABF863B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B21C3A8-A637-0F43-6146-E5C45EF6AE02}"/>
              </a:ext>
            </a:extLst>
          </p:cNvPr>
          <p:cNvSpPr txBox="1"/>
          <p:nvPr/>
        </p:nvSpPr>
        <p:spPr>
          <a:xfrm>
            <a:off x="462116" y="627140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Carga de datos a dimensiones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0D3684-EED6-439B-B5EA-4775F1D1076A}"/>
              </a:ext>
            </a:extLst>
          </p:cNvPr>
          <p:cNvSpPr txBox="1"/>
          <p:nvPr/>
        </p:nvSpPr>
        <p:spPr>
          <a:xfrm>
            <a:off x="0" y="1207242"/>
            <a:ext cx="408038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Dimensión 1: Cliente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633B8A-6EA7-839B-B58B-83ADE3329885}"/>
              </a:ext>
            </a:extLst>
          </p:cNvPr>
          <p:cNvSpPr txBox="1"/>
          <p:nvPr/>
        </p:nvSpPr>
        <p:spPr>
          <a:xfrm>
            <a:off x="462116" y="1787344"/>
            <a:ext cx="6096000" cy="70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5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1. Creamos un flujo de datos para crear la dimensión Cliente:</a:t>
            </a:r>
            <a:endParaRPr lang="es-ES" sz="2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5B07EE8-E655-F6BE-B8E5-47881648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2614502"/>
            <a:ext cx="5400040" cy="151384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754DBF7-236A-73F1-DF50-1A92FF97A47A}"/>
              </a:ext>
            </a:extLst>
          </p:cNvPr>
          <p:cNvSpPr txBox="1"/>
          <p:nvPr/>
        </p:nvSpPr>
        <p:spPr>
          <a:xfrm>
            <a:off x="6223820" y="1815973"/>
            <a:ext cx="5692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MX" sz="1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2. Creamos el origen y el destino y configuramos la consulta y las filas:</a:t>
            </a:r>
            <a:endParaRPr lang="es-ES" sz="2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11" name="Imagen 10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E66D34C-F1C7-75B2-9499-1EE64F0DF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238" y="2727565"/>
            <a:ext cx="5400040" cy="35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90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820DF-577A-A6A1-FB3A-0710384B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87F82F4-A818-D448-1650-6DA6552DC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373152"/>
            <a:ext cx="5400040" cy="3827780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A9EB3A4-9E62-C31C-2ED9-75BDA627D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4564377"/>
            <a:ext cx="5400040" cy="1567180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00312914-E417-063A-DB67-DF831CED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126" y="2098043"/>
            <a:ext cx="5400040" cy="305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71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B445D-5B5C-CD44-AF5D-2FE5087C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39036B1-1AC1-398D-D7BD-3D1F5115A02E}"/>
              </a:ext>
            </a:extLst>
          </p:cNvPr>
          <p:cNvSpPr txBox="1"/>
          <p:nvPr/>
        </p:nvSpPr>
        <p:spPr>
          <a:xfrm>
            <a:off x="560439" y="5232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MX" sz="1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Ejecutamos para poblar </a:t>
            </a:r>
            <a:r>
              <a:rPr lang="es-MX" sz="1800" dirty="0" err="1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DIM.Cliente</a:t>
            </a:r>
            <a:r>
              <a:rPr lang="es-MX" sz="1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:</a:t>
            </a:r>
            <a:endParaRPr lang="es-ES" sz="2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7" name="Imagen 6" descr="Imagen que contiene circuito, computadora&#10;&#10;El contenido generado por IA puede ser incorrecto.">
            <a:extLst>
              <a:ext uri="{FF2B5EF4-FFF2-40B4-BE49-F238E27FC236}">
                <a16:creationId xmlns:a16="http://schemas.microsoft.com/office/drawing/2014/main" id="{6E4B6783-7453-9CEB-4237-D2C63B588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39" y="1104900"/>
            <a:ext cx="5400040" cy="1600200"/>
          </a:xfrm>
          <a:prstGeom prst="rect">
            <a:avLst/>
          </a:prstGeom>
        </p:spPr>
      </p:pic>
      <p:pic>
        <p:nvPicPr>
          <p:cNvPr id="8" name="Imagen 7" descr="Imagen que contiene electrónica, circuito, computadora&#10;&#10;El contenido generado por IA puede ser incorrecto.">
            <a:extLst>
              <a:ext uri="{FF2B5EF4-FFF2-40B4-BE49-F238E27FC236}">
                <a16:creationId xmlns:a16="http://schemas.microsoft.com/office/drawing/2014/main" id="{744B2487-D7E3-B6D9-E437-09BC252AD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439" y="2917411"/>
            <a:ext cx="5400040" cy="1677035"/>
          </a:xfrm>
          <a:prstGeom prst="rect">
            <a:avLst/>
          </a:prstGeom>
        </p:spPr>
      </p:pic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68D4B0C0-7BCB-ED0D-5353-9AE6202AA7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991"/>
          <a:stretch>
            <a:fillRect/>
          </a:stretch>
        </p:blipFill>
        <p:spPr bwMode="auto">
          <a:xfrm>
            <a:off x="3608439" y="4806757"/>
            <a:ext cx="5343525" cy="1493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26684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BD7BA-7268-BA51-4B8C-7814242C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0F6E842-2BC1-A1BC-32C6-06ED6BFD72AD}"/>
              </a:ext>
            </a:extLst>
          </p:cNvPr>
          <p:cNvSpPr txBox="1"/>
          <p:nvPr/>
        </p:nvSpPr>
        <p:spPr>
          <a:xfrm>
            <a:off x="-462953" y="489542"/>
            <a:ext cx="609432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Dimensión 2: Mesa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6B4D86-6D31-2F4F-F375-C1180BC48587}"/>
              </a:ext>
            </a:extLst>
          </p:cNvPr>
          <p:cNvSpPr txBox="1"/>
          <p:nvPr/>
        </p:nvSpPr>
        <p:spPr>
          <a:xfrm>
            <a:off x="471947" y="1229483"/>
            <a:ext cx="11395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procedimiento es el mismo para cada dimensión. Se crea el Flujo de datos, el origen y el destino, se prueba la consulta y se realiza el proceso de carga.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9CCCE0CC-B72A-A75F-DE73-D90A7D01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7" y="2159220"/>
            <a:ext cx="5808273" cy="1564427"/>
          </a:xfrm>
          <a:prstGeom prst="rect">
            <a:avLst/>
          </a:prstGeom>
        </p:spPr>
      </p:pic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9F844A54-CBFB-6876-384D-FE88C4A1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6" y="4064090"/>
            <a:ext cx="5808273" cy="1564427"/>
          </a:xfrm>
          <a:prstGeom prst="rect">
            <a:avLst/>
          </a:prstGeom>
        </p:spPr>
      </p:pic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41AECB8-5517-08DD-D3B2-CF9AEC626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154" y="2883224"/>
            <a:ext cx="5580380" cy="168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34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1A75F-FF4C-C3DE-11CA-8FBFCE10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20CC0A8-5C3B-3B72-67E3-D6ED28BEA195}"/>
              </a:ext>
            </a:extLst>
          </p:cNvPr>
          <p:cNvSpPr txBox="1"/>
          <p:nvPr/>
        </p:nvSpPr>
        <p:spPr>
          <a:xfrm>
            <a:off x="1676" y="460045"/>
            <a:ext cx="609432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Dimensión 3: Empleado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C1CC18-890F-D274-5B6A-974E7A8D8800}"/>
              </a:ext>
            </a:extLst>
          </p:cNvPr>
          <p:cNvSpPr txBox="1"/>
          <p:nvPr/>
        </p:nvSpPr>
        <p:spPr>
          <a:xfrm>
            <a:off x="904567" y="1052502"/>
            <a:ext cx="10382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procedimiento es el mismo para cada dimensión. Se crea el Flujo de datos, el origen y el destino, se prueba la consulta y se realiza el proceso de carga.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60BC0307-461A-1D50-E07F-0AFD86D6A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9" y="2028224"/>
            <a:ext cx="5580380" cy="1545590"/>
          </a:xfrm>
          <a:prstGeom prst="rect">
            <a:avLst/>
          </a:prstGeom>
        </p:spPr>
      </p:pic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A0CA10B-1AB8-ED2E-D264-45E38EC57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88" y="4004103"/>
            <a:ext cx="5580380" cy="1362710"/>
          </a:xfrm>
          <a:prstGeom prst="rect">
            <a:avLst/>
          </a:prstGeom>
        </p:spPr>
      </p:pic>
      <p:pic>
        <p:nvPicPr>
          <p:cNvPr id="13" name="Imagen 12" descr="Tabla&#10;&#10;El contenido generado por IA puede ser incorrecto.">
            <a:extLst>
              <a:ext uri="{FF2B5EF4-FFF2-40B4-BE49-F238E27FC236}">
                <a16:creationId xmlns:a16="http://schemas.microsoft.com/office/drawing/2014/main" id="{6FF6BF45-051B-421D-EF1F-48B776624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32" y="2150985"/>
            <a:ext cx="5580380" cy="245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12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1C78A-0B8C-EC14-11ED-07103153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6A39E8-C4E7-80E3-DFD6-984331342EA1}"/>
              </a:ext>
            </a:extLst>
          </p:cNvPr>
          <p:cNvSpPr txBox="1"/>
          <p:nvPr/>
        </p:nvSpPr>
        <p:spPr>
          <a:xfrm>
            <a:off x="-99160" y="607529"/>
            <a:ext cx="609432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Dimensión 4: Producto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D2F00B-6D02-4065-8930-A2E4B4A2DB66}"/>
              </a:ext>
            </a:extLst>
          </p:cNvPr>
          <p:cNvSpPr txBox="1"/>
          <p:nvPr/>
        </p:nvSpPr>
        <p:spPr>
          <a:xfrm>
            <a:off x="889818" y="1219651"/>
            <a:ext cx="9099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procedimiento es el mismo para cada dimensión. Se crea el Flujo de datos, el origen y el destino, se prueba la consulta y se realiza el proceso de carga.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8A9A9C21-08AC-AC19-593B-FA5F5992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" y="2320056"/>
            <a:ext cx="5580380" cy="1356360"/>
          </a:xfrm>
          <a:prstGeom prst="rect">
            <a:avLst/>
          </a:prstGeom>
        </p:spPr>
      </p:pic>
      <p:pic>
        <p:nvPicPr>
          <p:cNvPr id="11" name="Imagen 10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179DB079-DB98-A498-E7ED-EA853E217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" y="4130490"/>
            <a:ext cx="5580380" cy="1341755"/>
          </a:xfrm>
          <a:prstGeom prst="rect">
            <a:avLst/>
          </a:prstGeom>
        </p:spPr>
      </p:pic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4E11F22-AD4D-D175-BB08-59E3E92E4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622" y="2554922"/>
            <a:ext cx="5580380" cy="17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96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D56D6-3786-9DE0-691C-BDD6B394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F428B92-6ADF-A8AB-1013-CCFB8C1427C2}"/>
              </a:ext>
            </a:extLst>
          </p:cNvPr>
          <p:cNvSpPr txBox="1"/>
          <p:nvPr/>
        </p:nvSpPr>
        <p:spPr>
          <a:xfrm>
            <a:off x="-88490" y="489488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Dimensión Tiempo</a:t>
            </a:r>
            <a:endParaRPr lang="es-E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3DC002-D9DD-03C4-38D9-806B24CBE1C7}"/>
              </a:ext>
            </a:extLst>
          </p:cNvPr>
          <p:cNvSpPr txBox="1"/>
          <p:nvPr/>
        </p:nvSpPr>
        <p:spPr>
          <a:xfrm>
            <a:off x="830825" y="1180322"/>
            <a:ext cx="10530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procedimiento es el mismo para cada dimensión. Se crea el Flujo de datos, el origen y el destino, se prueba la consulta y se realiza el proceso de carga.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06C69770-4B1F-4C8C-6C33-9D29649D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0" y="2060952"/>
            <a:ext cx="5580380" cy="14243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AB82A0-5D7D-84BA-56AD-080C7632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30" y="4141623"/>
            <a:ext cx="5580380" cy="1327785"/>
          </a:xfrm>
          <a:prstGeom prst="rect">
            <a:avLst/>
          </a:prstGeom>
        </p:spPr>
      </p:pic>
      <p:pic>
        <p:nvPicPr>
          <p:cNvPr id="13" name="Imagen 12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7A254054-89F5-BAEA-77B1-78C642D1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492" y="2968420"/>
            <a:ext cx="5815567" cy="13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70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BE639-FE19-61B1-E496-61852BB7C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545CFD0-4276-D016-2696-4633281034C3}"/>
              </a:ext>
            </a:extLst>
          </p:cNvPr>
          <p:cNvSpPr txBox="1"/>
          <p:nvPr/>
        </p:nvSpPr>
        <p:spPr>
          <a:xfrm>
            <a:off x="383458" y="371501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Carga de datos a tabla hechos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13A415-DBE5-5BAE-755D-28A1B05B031D}"/>
              </a:ext>
            </a:extLst>
          </p:cNvPr>
          <p:cNvSpPr txBox="1"/>
          <p:nvPr/>
        </p:nvSpPr>
        <p:spPr>
          <a:xfrm>
            <a:off x="835742" y="1072167"/>
            <a:ext cx="9969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 procedimiento es el mismo para la tabla de hechos. Se crea el Flujo de datos, el origen y el destino, se prueba la consulta y se realiza el proceso de carga.</a:t>
            </a:r>
            <a:endParaRPr lang="es-ES" dirty="0"/>
          </a:p>
        </p:txBody>
      </p:sp>
      <p:pic>
        <p:nvPicPr>
          <p:cNvPr id="10" name="Imagen 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5F4E94E-8CD5-AB46-78BA-6616C49B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8" y="2031672"/>
            <a:ext cx="5580380" cy="1595120"/>
          </a:xfrm>
          <a:prstGeom prst="rect">
            <a:avLst/>
          </a:prstGeom>
        </p:spPr>
      </p:pic>
      <p:pic>
        <p:nvPicPr>
          <p:cNvPr id="11" name="Imagen 10" descr="Imagen que contiene raqueta, pelota, medidor&#10;&#10;El contenido generado por IA puede ser incorrecto.">
            <a:extLst>
              <a:ext uri="{FF2B5EF4-FFF2-40B4-BE49-F238E27FC236}">
                <a16:creationId xmlns:a16="http://schemas.microsoft.com/office/drawing/2014/main" id="{FEB36DA5-EFEB-5724-1CB8-4557C4C52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58" y="4362580"/>
            <a:ext cx="5580380" cy="1553845"/>
          </a:xfrm>
          <a:prstGeom prst="rect">
            <a:avLst/>
          </a:prstGeom>
        </p:spPr>
      </p:pic>
      <p:pic>
        <p:nvPicPr>
          <p:cNvPr id="12" name="Imagen 11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DEFF1FC5-6A26-0BD1-6D2A-C1F42BEFF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810" y="3429000"/>
            <a:ext cx="5580380" cy="129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91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1A8FD-49A7-FDE8-A976-B89E86C2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3F5F144-3EBC-ABB8-9658-543CD4939B0A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3107B7-E481-1B06-02BF-2697FD06AF89}"/>
              </a:ext>
            </a:extLst>
          </p:cNvPr>
          <p:cNvSpPr txBox="1"/>
          <p:nvPr/>
        </p:nvSpPr>
        <p:spPr>
          <a:xfrm>
            <a:off x="1120878" y="8771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Importación de librerías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8B6AD71-C77C-CDDC-E535-225D4D20C755}"/>
              </a:ext>
            </a:extLst>
          </p:cNvPr>
          <p:cNvSpPr txBox="1"/>
          <p:nvPr/>
        </p:nvSpPr>
        <p:spPr>
          <a:xfrm>
            <a:off x="1120878" y="1333732"/>
            <a:ext cx="10491019" cy="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pyodbc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Librería para conectar Python con bases de datos SQL Server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Librería para manipular datos en forma de tablas (</a:t>
            </a:r>
            <a:r>
              <a:rPr lang="es-PE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BD26AAF-07C8-19FA-F28B-A0D2A40BD4B4}"/>
              </a:ext>
            </a:extLst>
          </p:cNvPr>
          <p:cNvSpPr txBox="1"/>
          <p:nvPr/>
        </p:nvSpPr>
        <p:spPr>
          <a:xfrm>
            <a:off x="1120877" y="2221274"/>
            <a:ext cx="10717161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Conexión a base de datos transaccional (RestauranteDBasePrueba5m)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conecta a la base de datos original (transaccional), donde están los datos en bruto como clientes, empleados, productos, etc.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2F22A75-94E4-5511-FC59-2A50265F7788}"/>
              </a:ext>
            </a:extLst>
          </p:cNvPr>
          <p:cNvSpPr txBox="1"/>
          <p:nvPr/>
        </p:nvSpPr>
        <p:spPr>
          <a:xfrm>
            <a:off x="1120879" y="3531880"/>
            <a:ext cx="10717160" cy="1990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Conexión a la base de datos transaccional donde están los datos operativos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pyodbc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'DRIVER={SQL Server};SERVER=IDEAPAD\SQL;DATABASE=RestauranteDBasePrueba5m;UID=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sa;PWD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gnab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cursor_nw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'Conexión a RestauranteDBasePrueba5m correcta.'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'Conexión a RestauranteDBasePrueba5m fallida:'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951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CE7C4-9BBE-4957-DE72-859E4199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F64D8F7-D6CB-0EA4-9A14-E14B916CD5E9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422104-BAAE-BADF-BA98-9EEBCA3E0440}"/>
              </a:ext>
            </a:extLst>
          </p:cNvPr>
          <p:cNvSpPr txBox="1"/>
          <p:nvPr/>
        </p:nvSpPr>
        <p:spPr>
          <a:xfrm>
            <a:off x="1150374" y="11426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Consultas SQL para extraer datos 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215FD5-CD18-4A75-D3B9-7E5EC7B5E19E}"/>
              </a:ext>
            </a:extLst>
          </p:cNvPr>
          <p:cNvSpPr txBox="1"/>
          <p:nvPr/>
        </p:nvSpPr>
        <p:spPr>
          <a:xfrm>
            <a:off x="1111045" y="2309570"/>
            <a:ext cx="9969910" cy="159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Consulta para obtener nombres completos de los clientes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query1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"""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(Nombres + ' ' +  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ApellidoPaterno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ApellidoMaterno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nombres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CLIENTE.Cliente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1;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"""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11F2FA-691E-2674-AE11-C83497CC1A3B}"/>
              </a:ext>
            </a:extLst>
          </p:cNvPr>
          <p:cNvSpPr txBox="1"/>
          <p:nvPr/>
        </p:nvSpPr>
        <p:spPr>
          <a:xfrm>
            <a:off x="1150374" y="4909917"/>
            <a:ext cx="6096000" cy="137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df1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query1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df2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query2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df3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query3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df4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query4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df5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query5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A3FC7A-28AE-089B-A01B-002BB739C38B}"/>
              </a:ext>
            </a:extLst>
          </p:cNvPr>
          <p:cNvSpPr txBox="1"/>
          <p:nvPr/>
        </p:nvSpPr>
        <p:spPr>
          <a:xfrm>
            <a:off x="1150374" y="1454347"/>
            <a:ext cx="1018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query1 hasta query5: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consultas para crear las dimensiones Cliente, Mesa, Empleado, Producto y Tiempo.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42B9C8-C704-CCCF-C662-D26CB804F06E}"/>
              </a:ext>
            </a:extLst>
          </p:cNvPr>
          <p:cNvSpPr txBox="1"/>
          <p:nvPr/>
        </p:nvSpPr>
        <p:spPr>
          <a:xfrm>
            <a:off x="1150374" y="3795521"/>
            <a:ext cx="1063850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Ejecucion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consultas y carga a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DataFrames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Cada resultado de consulta se carga en una tabla en memoria usando pandas. Para transformarlos fácilmente antes de enviarlos al Data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Warehouse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833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1875D-DAA4-F11B-46B2-58310108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FA88869-33A4-C7B7-41B0-CB253920682E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5C7A26-FB6C-AAD7-ADD7-33BA8F14BF50}"/>
              </a:ext>
            </a:extLst>
          </p:cNvPr>
          <p:cNvSpPr txBox="1"/>
          <p:nvPr/>
        </p:nvSpPr>
        <p:spPr>
          <a:xfrm>
            <a:off x="1120878" y="974273"/>
            <a:ext cx="10304206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Transformación: convertir fechas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Convierte las fechas a un tipo reconocido por Python para trabajar con ellas más fácilmente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6B6FE8-D5B7-1360-CEBE-AFF09A3A97D3}"/>
              </a:ext>
            </a:extLst>
          </p:cNvPr>
          <p:cNvSpPr txBox="1"/>
          <p:nvPr/>
        </p:nvSpPr>
        <p:spPr>
          <a:xfrm>
            <a:off x="1120878" y="1756152"/>
            <a:ext cx="10009238" cy="72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"------- TRANSFORMACIÓN DE DATOS ----------"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df5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'fecha'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to_datetime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df5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'fecha'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  </a:t>
            </a: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Convierte texto a fecha real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8C94ED-782A-B8CE-3262-D1BFB2B63D1E}"/>
              </a:ext>
            </a:extLst>
          </p:cNvPr>
          <p:cNvSpPr txBox="1"/>
          <p:nvPr/>
        </p:nvSpPr>
        <p:spPr>
          <a:xfrm>
            <a:off x="1120878" y="2477119"/>
            <a:ext cx="993058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Limpieza: eliminar duplicados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limpian las tablas para que no se inserten datos duplicados en el Data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Warehouse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F39B1AE-6FF2-7ECC-5DE4-5F041251FFBB}"/>
              </a:ext>
            </a:extLst>
          </p:cNvPr>
          <p:cNvSpPr txBox="1"/>
          <p:nvPr/>
        </p:nvSpPr>
        <p:spPr>
          <a:xfrm>
            <a:off x="226142" y="3429000"/>
            <a:ext cx="11434916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fr-FR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dcliente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df1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fr-FR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'nombres'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]].</a:t>
            </a:r>
            <a:r>
              <a:rPr lang="fr-FR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dmesa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df2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ubicacion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'capacidad'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'estado'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dempleado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df3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'nombre'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fechaContratacion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dproducto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df4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categoria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'tipo'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'precio'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nombreProducto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dtiempo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df5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'fecha'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'trimestre'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nombreTrimestre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'mes'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nombreMes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semanaAnio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diaAnio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diaMes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diaSemana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nombreDia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7981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59848-7E77-EAB9-CEC9-EF3E7E82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EFE06-9593-7E4D-870C-DFBD2C2C5565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D7DD59-B90B-ADF2-341C-98CF3AE5F504}"/>
              </a:ext>
            </a:extLst>
          </p:cNvPr>
          <p:cNvSpPr txBox="1"/>
          <p:nvPr/>
        </p:nvSpPr>
        <p:spPr>
          <a:xfrm>
            <a:off x="1081547" y="948182"/>
            <a:ext cx="1057951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7. Conexión al Data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Warehouse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RestauranteMart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conecta al Data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Warehouse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que es el destino donde se cargarán los datos ya transformados.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1CB2B8-607E-68C0-9DD5-41E82BF2EFDF}"/>
              </a:ext>
            </a:extLst>
          </p:cNvPr>
          <p:cNvSpPr txBox="1"/>
          <p:nvPr/>
        </p:nvSpPr>
        <p:spPr>
          <a:xfrm>
            <a:off x="1081547" y="1768014"/>
            <a:ext cx="10274710" cy="207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"------- CONEXIÓN A BASE DE DATOS DIMENSIONAL ----------"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pyodbc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'DRIVER={SQL Server};SERVER=IDEAPAD\SQL;DATABASE=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RestauranteMart;UID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sa;PWD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gnab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'Conexión a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RestauranteMart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correcta.'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'Conexión a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RestauranteMart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fallida:'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2623A2-5B16-0D5B-7443-38BDDA1A8A29}"/>
              </a:ext>
            </a:extLst>
          </p:cNvPr>
          <p:cNvSpPr txBox="1"/>
          <p:nvPr/>
        </p:nvSpPr>
        <p:spPr>
          <a:xfrm>
            <a:off x="1081547" y="3913926"/>
            <a:ext cx="10579509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8. Limpieza previa de tablas en el DW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Elimina todos los datos actuales del DW y reinicia los contadores de claves primarias (IDENTITY) para empezar desde cero.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4CB75A-EDD4-31F7-0B96-704CA3BEFA6A}"/>
              </a:ext>
            </a:extLst>
          </p:cNvPr>
          <p:cNvSpPr txBox="1"/>
          <p:nvPr/>
        </p:nvSpPr>
        <p:spPr>
          <a:xfrm>
            <a:off x="1081548" y="4946713"/>
            <a:ext cx="10579508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"DELETE FROM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dbo.FactVentas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;"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'Cliente'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'Mesa'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'Empleado'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'Producto'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'Tiempo'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tabla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"DELETE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DIM.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tabla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;"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"DBCC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CHECKIDENT ('DIM.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tabla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RESEED, 0);"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"DBCC CHECKIDENT ('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dbo.FactVentas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RESEED, 0);"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2912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8EBCD-65AC-D8A0-B7F0-202D171A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E305124-87D2-7744-2554-9DA2E81F689E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904E45-0016-489E-25E5-8964B6150430}"/>
              </a:ext>
            </a:extLst>
          </p:cNvPr>
          <p:cNvSpPr txBox="1"/>
          <p:nvPr/>
        </p:nvSpPr>
        <p:spPr>
          <a:xfrm>
            <a:off x="1130709" y="1033267"/>
            <a:ext cx="10274709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 Carga de datos en tablas de dimensiones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Inserta fila por fila en las tablas de dimensiones: Cliente, Mesa, Empleado, Producto y Tiempo. 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49C0C7-0768-750A-4973-1E4BF8EC0B1C}"/>
              </a:ext>
            </a:extLst>
          </p:cNvPr>
          <p:cNvSpPr txBox="1"/>
          <p:nvPr/>
        </p:nvSpPr>
        <p:spPr>
          <a:xfrm>
            <a:off x="1130709" y="1874140"/>
            <a:ext cx="10717162" cy="115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Cargar datos a tabla </a:t>
            </a:r>
            <a:r>
              <a:rPr lang="es-PE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DIM.Cliente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de-CH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CH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dcliente</a:t>
            </a:r>
            <a:r>
              <a:rPr lang="de-CH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de-CH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iterrows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fr-FR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fr-FR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"INSERT INTO </a:t>
            </a:r>
            <a:r>
              <a:rPr lang="fr-FR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DIM.Cliente</a:t>
            </a:r>
            <a:r>
              <a:rPr lang="fr-FR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(nombres) VALUES (?)"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.nombres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fr-FR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fr-FR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"Carga de dimensión Cliente completada"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9ACDE5-3F88-8CF4-7383-29D220C168D5}"/>
              </a:ext>
            </a:extLst>
          </p:cNvPr>
          <p:cNvSpPr txBox="1"/>
          <p:nvPr/>
        </p:nvSpPr>
        <p:spPr>
          <a:xfrm>
            <a:off x="1130709" y="3031123"/>
            <a:ext cx="10559846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10. Carga de tabla de hechos (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FactVentas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Inserta los registros de ventas, que enlazan claves de dimensión y métricas como ingresos, costos, número de ventas, etc.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0A2F2A-9075-A168-BF91-93FC5C775E3D}"/>
              </a:ext>
            </a:extLst>
          </p:cNvPr>
          <p:cNvSpPr txBox="1"/>
          <p:nvPr/>
        </p:nvSpPr>
        <p:spPr>
          <a:xfrm>
            <a:off x="1130709" y="4086489"/>
            <a:ext cx="10903973" cy="2426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de-CH" sz="180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CH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de-CH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de-CH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iterrows</a:t>
            </a: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de-CH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"""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INSERT INTO 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dbo.FactVentas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clientekey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mesakey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empleadokey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productokey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tiempokey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ingresosVenta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numeroVentas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ventaCompletas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costo, margen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VALUES (?, ?, ?, ?, ?, ?, ?, ?, ?, ?)"""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.clientekey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.mesakey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.empleadokey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.productokey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.tiempokey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.ingresosVenta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.numeroVentas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.ventaCompletas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.costo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.margen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'Carga de </a:t>
            </a:r>
            <a:r>
              <a:rPr lang="es-PE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FactVentas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completada.'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091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B2088-70CF-7756-CC78-FA84F789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5B26101-BCEE-0E5F-8780-7859A71752E8}"/>
              </a:ext>
            </a:extLst>
          </p:cNvPr>
          <p:cNvSpPr txBox="1"/>
          <p:nvPr/>
        </p:nvSpPr>
        <p:spPr>
          <a:xfrm>
            <a:off x="658762" y="420662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Python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DA2E1A-871F-EA4C-A0FA-0209CAA330AE}"/>
              </a:ext>
            </a:extLst>
          </p:cNvPr>
          <p:cNvSpPr txBox="1"/>
          <p:nvPr/>
        </p:nvSpPr>
        <p:spPr>
          <a:xfrm>
            <a:off x="1150374" y="9460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buNone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11. Cierre de conexiones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35C4B5-6B3C-7936-855F-2BFEADC5E726}"/>
              </a:ext>
            </a:extLst>
          </p:cNvPr>
          <p:cNvSpPr txBox="1"/>
          <p:nvPr/>
        </p:nvSpPr>
        <p:spPr>
          <a:xfrm>
            <a:off x="1150374" y="1384223"/>
            <a:ext cx="6096000" cy="93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n-US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conn_dw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conn_nw</a:t>
            </a:r>
            <a:r>
              <a:rPr lang="es-PE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300"/>
              </a:spcAft>
              <a:buNone/>
            </a:pPr>
            <a:r>
              <a:rPr lang="es-PE" sz="1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'Conexiones cerradas correctamente.'</a:t>
            </a:r>
            <a:r>
              <a:rPr lang="es-PE" sz="180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F11BAB-2194-A141-3183-0D2A834E7F5A}"/>
              </a:ext>
            </a:extLst>
          </p:cNvPr>
          <p:cNvSpPr txBox="1"/>
          <p:nvPr/>
        </p:nvSpPr>
        <p:spPr>
          <a:xfrm>
            <a:off x="1150374" y="23920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12. Resultado en Terminal</a:t>
            </a:r>
            <a:endParaRPr lang="es-ES" dirty="0"/>
          </a:p>
        </p:txBody>
      </p:sp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6F0F5578-541E-989E-779F-31DDF0FC5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74" y="2830224"/>
            <a:ext cx="7686531" cy="221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44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993B3-280F-46FF-1B4D-35C2572C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317E7-9320-800A-70B4-FCB463D8D1A1}"/>
              </a:ext>
            </a:extLst>
          </p:cNvPr>
          <p:cNvSpPr txBox="1"/>
          <p:nvPr/>
        </p:nvSpPr>
        <p:spPr>
          <a:xfrm>
            <a:off x="838200" y="5609902"/>
            <a:ext cx="6924026" cy="91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ETL con Python</a:t>
            </a:r>
          </a:p>
        </p:txBody>
      </p:sp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DCD43F31-D9DD-D024-BD71-28F59AABC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70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09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9688B-BBEE-5E9C-3698-34ED75F78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095953A-7DC0-3F46-6E96-31FBC9B1A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60503" y="-18309"/>
            <a:ext cx="4438566" cy="6883029"/>
            <a:chOff x="7760503" y="-18309"/>
            <a:chExt cx="4438566" cy="68830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7A3D96-0FAB-1097-EDDA-3FEF83BF3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AB96BF-DFB3-4E65-F857-5FB09808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350EA2-C795-0DD6-A39B-C92018940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AC1597-691C-C2BF-535E-B9DBBAA76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66F88BF4-CA7A-F841-6851-451DFB657FE6}"/>
              </a:ext>
            </a:extLst>
          </p:cNvPr>
          <p:cNvSpPr txBox="1"/>
          <p:nvPr/>
        </p:nvSpPr>
        <p:spPr>
          <a:xfrm>
            <a:off x="8328214" y="1489363"/>
            <a:ext cx="3310215" cy="298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ETL con Pentaho (Opcional)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F52FBC-B26E-7DF0-683D-E47D39BE6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55" y="684399"/>
            <a:ext cx="6266420" cy="55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23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6240D-6396-CFEF-B7CF-69258625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0CFA2CD-73D1-D660-EBFF-1678C392CE4B}"/>
              </a:ext>
            </a:extLst>
          </p:cNvPr>
          <p:cNvSpPr txBox="1"/>
          <p:nvPr/>
        </p:nvSpPr>
        <p:spPr>
          <a:xfrm>
            <a:off x="294968" y="450159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Pentaho (Opcional)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A2E32AE-CA1B-04F6-AE53-8815F1B4D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68" y="1679581"/>
            <a:ext cx="5290538" cy="396413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BEFFD78-3CCA-39F2-A675-848BF395A50E}"/>
              </a:ext>
            </a:extLst>
          </p:cNvPr>
          <p:cNvSpPr txBox="1"/>
          <p:nvPr/>
        </p:nvSpPr>
        <p:spPr>
          <a:xfrm>
            <a:off x="-216692" y="8802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spcAft>
                <a:spcPts val="600"/>
              </a:spcAft>
              <a:buSzPts val="1100"/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Poblar Dimensión TABLA </a:t>
            </a:r>
            <a:r>
              <a:rPr lang="es-PE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FactVentas</a:t>
            </a: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6E81181-22AA-4C0D-EA8A-188E7224A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374" y="1679581"/>
            <a:ext cx="6312826" cy="401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12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29755-7A43-F9DF-90FE-ECBC8C2D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D461C1E-C39E-2D37-5806-0B404A0B77F1}"/>
              </a:ext>
            </a:extLst>
          </p:cNvPr>
          <p:cNvSpPr txBox="1"/>
          <p:nvPr/>
        </p:nvSpPr>
        <p:spPr>
          <a:xfrm>
            <a:off x="294968" y="450159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ETL con Pentaho (Opcional)</a:t>
            </a:r>
            <a:endParaRPr lang="es-ES" sz="16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8BCF36-C143-ECEF-4F0B-2D5591A62054}"/>
              </a:ext>
            </a:extLst>
          </p:cNvPr>
          <p:cNvSpPr txBox="1"/>
          <p:nvPr/>
        </p:nvSpPr>
        <p:spPr>
          <a:xfrm>
            <a:off x="-118370" y="906694"/>
            <a:ext cx="848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spcAft>
                <a:spcPts val="600"/>
              </a:spcAft>
              <a:buSzPts val="1100"/>
            </a:pPr>
            <a:r>
              <a:rPr lang="es-PE" dirty="0"/>
              <a:t>Revisar los datos cargados a la DIMENSION TABLA FACTVENTAS</a:t>
            </a: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5F2357-74C1-6CC4-5B7D-C77A116EE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988" y="1336739"/>
            <a:ext cx="6343625" cy="536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65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D9945-71E2-FD96-940B-F7A99445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558079-D765-9133-44D6-FB9534EB3EF9}"/>
              </a:ext>
            </a:extLst>
          </p:cNvPr>
          <p:cNvSpPr txBox="1"/>
          <p:nvPr/>
        </p:nvSpPr>
        <p:spPr>
          <a:xfrm>
            <a:off x="599609" y="679731"/>
            <a:ext cx="4171994" cy="373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5" descr="Smiling Face with No Fill">
            <a:extLst>
              <a:ext uri="{FF2B5EF4-FFF2-40B4-BE49-F238E27FC236}">
                <a16:creationId xmlns:a16="http://schemas.microsoft.com/office/drawing/2014/main" id="{31FDA49B-39A8-4E36-6C52-06C9776BC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16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3680</Words>
  <Application>Microsoft Office PowerPoint</Application>
  <PresentationFormat>Panorámica</PresentationFormat>
  <Paragraphs>483</Paragraphs>
  <Slides>43</Slides>
  <Notes>15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Times New Roman</vt:lpstr>
      <vt:lpstr>Tema de Office</vt:lpstr>
      <vt:lpstr>Hoja de cálculo de Microsoft Excel</vt:lpstr>
      <vt:lpstr>INTELIGENCIA DE NEGOCIOS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zavaleta</dc:creator>
  <cp:lastModifiedBy>jesus zavaleta</cp:lastModifiedBy>
  <cp:revision>2</cp:revision>
  <dcterms:created xsi:type="dcterms:W3CDTF">2025-07-08T02:30:35Z</dcterms:created>
  <dcterms:modified xsi:type="dcterms:W3CDTF">2025-07-08T04:44:55Z</dcterms:modified>
</cp:coreProperties>
</file>